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60" r:id="rId5"/>
    <p:sldId id="291" r:id="rId6"/>
    <p:sldId id="292" r:id="rId7"/>
    <p:sldId id="293" r:id="rId8"/>
    <p:sldId id="294" r:id="rId9"/>
    <p:sldId id="259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95" r:id="rId26"/>
    <p:sldId id="278" r:id="rId27"/>
    <p:sldId id="276" r:id="rId28"/>
    <p:sldId id="277" r:id="rId29"/>
    <p:sldId id="279" r:id="rId30"/>
    <p:sldId id="280" r:id="rId31"/>
    <p:sldId id="281" r:id="rId32"/>
    <p:sldId id="287" r:id="rId33"/>
    <p:sldId id="288" r:id="rId34"/>
    <p:sldId id="289" r:id="rId35"/>
    <p:sldId id="290" r:id="rId36"/>
    <p:sldId id="296" r:id="rId37"/>
    <p:sldId id="282" r:id="rId38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C4B2F"/>
    <a:srgbClr val="00A0AE"/>
    <a:srgbClr val="DC97FF"/>
    <a:srgbClr val="CC66FF"/>
    <a:srgbClr val="993300"/>
    <a:srgbClr val="004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6494" autoAdjust="0"/>
  </p:normalViewPr>
  <p:slideViewPr>
    <p:cSldViewPr snapToGrid="0">
      <p:cViewPr varScale="1">
        <p:scale>
          <a:sx n="78" d="100"/>
          <a:sy n="78" d="100"/>
        </p:scale>
        <p:origin x="16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772F1-7711-4C39-A47E-5479F4D6C06D}" type="datetimeFigureOut">
              <a:rPr lang="nl-BE" smtClean="0"/>
              <a:t>22/10/2024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B222E-4FF6-4DF4-B2D7-001943EBE33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308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BE" dirty="0"/>
              <a:t>Applicaties ICT – Sofie Beerens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1" name="Picture 10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4" name="Picture 13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 dirty="0"/>
              <a:t>Applicaties ICT – Sofie Beerens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 dirty="0"/>
              <a:t>Klik op het pictogram als u een afbeelding wilt toevoegen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datum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CCFC-10E0-4322-A88D-A0487723354C}" type="datetimeFigureOut">
              <a:rPr lang="nl-NL"/>
              <a:pPr>
                <a:defRPr/>
              </a:pPr>
              <a:t>22-10-2024</a:t>
            </a:fld>
            <a:endParaRPr lang="nl-NL"/>
          </a:p>
        </p:txBody>
      </p:sp>
      <p:sp>
        <p:nvSpPr>
          <p:cNvPr id="5" name="Tijdelijke aanduiding voor voettekst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4F1FD-C1CD-4BA4-9301-2E6C77AFA268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394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  <p:sldLayoutId id="2147483689" r:id="rId8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7/example_01.ph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7/example_02.ph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php.net/manual/en/security.magicquotes.disabling.ph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php/php_ref_filter.asp" TargetMode="External"/><Relationship Id="rId2" Type="http://schemas.openxmlformats.org/officeDocument/2006/relationships/hyperlink" Target="http://www.w3schools.com/php/func_filter_var.asp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HP-MySQL/Lectures/Lecture7/example_03.php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PHP - MySQL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3060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PHP</a:t>
            </a:r>
          </a:p>
          <a:p>
            <a:r>
              <a:rPr lang="en-US" noProof="0" dirty="0"/>
              <a:t>PEAR</a:t>
            </a:r>
          </a:p>
          <a:p>
            <a:endParaRPr lang="en-US" noProof="0" dirty="0"/>
          </a:p>
          <a:p>
            <a:r>
              <a:rPr lang="en-US" noProof="0" dirty="0"/>
              <a:t>Execute SQL commands using PHP</a:t>
            </a:r>
          </a:p>
          <a:p>
            <a:pPr lvl="1"/>
            <a:r>
              <a:rPr lang="en-US" dirty="0"/>
              <a:t>Incorporating data from database into website</a:t>
            </a:r>
          </a:p>
          <a:p>
            <a:pPr lvl="1"/>
            <a:r>
              <a:rPr lang="en-US" dirty="0"/>
              <a:t>Writing data from website to database</a:t>
            </a:r>
          </a:p>
          <a:p>
            <a:pPr lvl="1"/>
            <a:r>
              <a:rPr lang="en-US" dirty="0"/>
              <a:t>…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connection PHP - MySQL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1241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774347"/>
          </a:xfrm>
        </p:spPr>
        <p:txBody>
          <a:bodyPr>
            <a:normAutofit/>
          </a:bodyPr>
          <a:lstStyle/>
          <a:p>
            <a:r>
              <a:rPr lang="en-US" noProof="0" dirty="0"/>
              <a:t>5 steps:</a:t>
            </a:r>
          </a:p>
          <a:p>
            <a:pPr marL="0" indent="0">
              <a:buNone/>
            </a:pPr>
            <a:endParaRPr lang="en-US" noProof="0" dirty="0"/>
          </a:p>
          <a:p>
            <a:pPr marL="812800" lvl="1" indent="-457200">
              <a:buFont typeface="+mj-lt"/>
              <a:buAutoNum type="arabicPeriod"/>
            </a:pPr>
            <a:r>
              <a:rPr lang="en-US" dirty="0"/>
              <a:t>Connect to MySQL server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dirty="0"/>
              <a:t>Select correct database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dirty="0"/>
              <a:t>Execute SQL query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dirty="0"/>
              <a:t>Process query results in website</a:t>
            </a:r>
          </a:p>
          <a:p>
            <a:pPr marL="812800" lvl="1" indent="-457200">
              <a:buFont typeface="+mj-lt"/>
              <a:buAutoNum type="arabicPeriod"/>
            </a:pPr>
            <a:r>
              <a:rPr lang="en-US" dirty="0"/>
              <a:t>Close database connection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method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96721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08853"/>
          </a:xfrm>
        </p:spPr>
        <p:txBody>
          <a:bodyPr>
            <a:normAutofit/>
          </a:bodyPr>
          <a:lstStyle/>
          <a:p>
            <a:r>
              <a:rPr lang="en-US" dirty="0"/>
              <a:t>pay attention to outdated documentation online</a:t>
            </a:r>
          </a:p>
          <a:p>
            <a:r>
              <a:rPr lang="en-US" dirty="0" err="1"/>
              <a:t>mysqli</a:t>
            </a:r>
            <a:r>
              <a:rPr lang="en-US" dirty="0"/>
              <a:t> (i stands for improved) is a renewed and improved version of the </a:t>
            </a:r>
            <a:r>
              <a:rPr lang="en-US" dirty="0" err="1"/>
              <a:t>mysql</a:t>
            </a:r>
            <a:r>
              <a:rPr lang="en-US" dirty="0"/>
              <a:t> commands in </a:t>
            </a:r>
            <a:r>
              <a:rPr lang="en-US" dirty="0" err="1"/>
              <a:t>php</a:t>
            </a:r>
            <a:r>
              <a:rPr lang="en-US" dirty="0"/>
              <a:t>. </a:t>
            </a:r>
          </a:p>
          <a:p>
            <a:r>
              <a:rPr lang="en-US" dirty="0"/>
              <a:t>use </a:t>
            </a:r>
            <a:r>
              <a:rPr lang="en-US" dirty="0" err="1"/>
              <a:t>mysqli</a:t>
            </a:r>
            <a:r>
              <a:rPr lang="en-US" dirty="0"/>
              <a:t> commands instead of </a:t>
            </a:r>
            <a:r>
              <a:rPr lang="en-US" dirty="0" err="1"/>
              <a:t>mysql</a:t>
            </a:r>
            <a:r>
              <a:rPr lang="en-US" dirty="0"/>
              <a:t> commands </a:t>
            </a:r>
          </a:p>
          <a:p>
            <a:r>
              <a:rPr lang="en-US" dirty="0" err="1"/>
              <a:t>mysqli</a:t>
            </a:r>
            <a:r>
              <a:rPr lang="en-US" dirty="0"/>
              <a:t> can be addressed procedurally &amp; OOP. Both remain usable in PHP8.x.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Mysql</a:t>
            </a:r>
            <a:r>
              <a:rPr lang="en-US" noProof="0" dirty="0"/>
              <a:t> vs </a:t>
            </a:r>
            <a:r>
              <a:rPr lang="en-US" noProof="0" dirty="0" err="1"/>
              <a:t>mysQli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4432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manage users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48" y="929028"/>
            <a:ext cx="6732704" cy="5488546"/>
          </a:xfrm>
          <a:prstGeom prst="rect">
            <a:avLst/>
          </a:prstGeom>
        </p:spPr>
      </p:pic>
      <p:sp>
        <p:nvSpPr>
          <p:cNvPr id="2" name="Ovaal 1"/>
          <p:cNvSpPr/>
          <p:nvPr/>
        </p:nvSpPr>
        <p:spPr>
          <a:xfrm>
            <a:off x="3287210" y="4544499"/>
            <a:ext cx="1041721" cy="40511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kstvak 7"/>
          <p:cNvSpPr txBox="1"/>
          <p:nvPr/>
        </p:nvSpPr>
        <p:spPr>
          <a:xfrm>
            <a:off x="4942389" y="5337966"/>
            <a:ext cx="3408305" cy="646331"/>
          </a:xfrm>
          <a:prstGeom prst="rect">
            <a:avLst/>
          </a:prstGeom>
          <a:noFill/>
          <a:ln>
            <a:solidFill>
              <a:srgbClr val="EC4B2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C4B2F"/>
                </a:solidFill>
              </a:rPr>
              <a:t>Create new user for access </a:t>
            </a:r>
          </a:p>
          <a:p>
            <a:r>
              <a:rPr lang="en-US" dirty="0">
                <a:solidFill>
                  <a:srgbClr val="EC4B2F"/>
                </a:solidFill>
              </a:rPr>
              <a:t>from website</a:t>
            </a:r>
            <a:endParaRPr lang="nl-BE" dirty="0">
              <a:solidFill>
                <a:srgbClr val="EC4B2F"/>
              </a:solidFill>
            </a:endParaRPr>
          </a:p>
        </p:txBody>
      </p:sp>
      <p:cxnSp>
        <p:nvCxnSpPr>
          <p:cNvPr id="10" name="Rechte verbindingslijn met pijl 9"/>
          <p:cNvCxnSpPr/>
          <p:nvPr/>
        </p:nvCxnSpPr>
        <p:spPr>
          <a:xfrm>
            <a:off x="4228373" y="4949613"/>
            <a:ext cx="714016" cy="388353"/>
          </a:xfrm>
          <a:prstGeom prst="straightConnector1">
            <a:avLst/>
          </a:prstGeom>
          <a:ln w="1905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al 6"/>
          <p:cNvSpPr/>
          <p:nvPr/>
        </p:nvSpPr>
        <p:spPr>
          <a:xfrm>
            <a:off x="1127531" y="4544499"/>
            <a:ext cx="6744559" cy="38085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150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manage users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12" y="1210033"/>
            <a:ext cx="6368777" cy="462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4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manage users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94" y="1271912"/>
            <a:ext cx="8703812" cy="447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06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manage users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7" y="1645017"/>
            <a:ext cx="8960007" cy="3600751"/>
          </a:xfrm>
          <a:prstGeom prst="rect">
            <a:avLst/>
          </a:prstGeom>
        </p:spPr>
      </p:pic>
      <p:sp>
        <p:nvSpPr>
          <p:cNvPr id="7" name="Ovaal 6"/>
          <p:cNvSpPr/>
          <p:nvPr/>
        </p:nvSpPr>
        <p:spPr>
          <a:xfrm>
            <a:off x="0" y="3161543"/>
            <a:ext cx="8769681" cy="40511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079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lvl="1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$host 		= "localhost";</a:t>
            </a:r>
          </a:p>
          <a:p>
            <a:pPr marL="355600" lvl="1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$user		= "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Webuser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355600" lvl="1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$password	= "Lab2024";</a:t>
            </a:r>
          </a:p>
          <a:p>
            <a:pPr marL="355600" lvl="1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$database	= "college";	</a:t>
            </a:r>
          </a:p>
          <a:p>
            <a:pPr marL="355600" lvl="1" indent="0">
              <a:buNone/>
            </a:pP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5600" lvl="1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$link = </a:t>
            </a:r>
            <a:r>
              <a:rPr lang="en-US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mysqli_connect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($host, $user, $password) </a:t>
            </a:r>
            <a:r>
              <a:rPr lang="en-US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die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("Error: no connection can be made to the host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step1</a:t>
            </a:r>
            <a:r>
              <a:rPr lang="en-US" dirty="0"/>
              <a:t>: establishing connection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3004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mysqli_select_db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$database) </a:t>
            </a:r>
            <a:r>
              <a:rPr lang="en-US" sz="2800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die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the database could not be opened");</a:t>
            </a:r>
            <a:br>
              <a:rPr lang="en-US" sz="3600" noProof="0" dirty="0"/>
            </a:br>
            <a:endParaRPr lang="en-US" sz="32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2: select database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71578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$query = "SELECT * FROM students";</a:t>
            </a: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</a:t>
            </a:r>
            <a:r>
              <a:rPr lang="en-US" sz="28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$query) </a:t>
            </a:r>
            <a:r>
              <a:rPr lang="en-US" sz="2800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die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an error has occurred while executing the query.");</a:t>
            </a:r>
            <a:endParaRPr lang="en-US" sz="32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3</a:t>
            </a:r>
            <a:r>
              <a:rPr lang="en-US" dirty="0"/>
              <a:t>: create and execute query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25024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088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echo("&lt;h2&gt;Students&lt;/h2&gt;");</a:t>
            </a:r>
          </a:p>
          <a:p>
            <a:pPr marL="0" indent="0">
              <a:buNone/>
            </a:pP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numberRecords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mysqli_num_rows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($result);</a:t>
            </a:r>
          </a:p>
          <a:p>
            <a:pPr marL="0" indent="0">
              <a:buNone/>
            </a:pP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echo("&lt;table&gt;&lt;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&gt;id&lt;/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&gt;name&lt;/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postalCode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&gt;city&lt;/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&gt;");</a:t>
            </a:r>
          </a:p>
          <a:p>
            <a:pPr marL="0" indent="0">
              <a:buNone/>
            </a:pP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while($row = </a:t>
            </a:r>
            <a:r>
              <a:rPr lang="en-US" sz="24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mysqli_fetch_array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($result))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echo("&lt;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4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studNo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$row['name']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4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4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postalCode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4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$row['city']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    &lt;/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");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echo("&lt;/table&gt;");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4</a:t>
            </a:r>
            <a:r>
              <a:rPr lang="en-US" dirty="0"/>
              <a:t>: write results to screen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6" name="Ovaal 5"/>
          <p:cNvSpPr/>
          <p:nvPr/>
        </p:nvSpPr>
        <p:spPr>
          <a:xfrm>
            <a:off x="1613139" y="2949645"/>
            <a:ext cx="1949569" cy="360040"/>
          </a:xfrm>
          <a:prstGeom prst="ellipse">
            <a:avLst/>
          </a:prstGeom>
          <a:solidFill>
            <a:srgbClr val="00A0AE">
              <a:alpha val="12941"/>
            </a:srgbClr>
          </a:solidFill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kstvak 7"/>
          <p:cNvSpPr txBox="1"/>
          <p:nvPr/>
        </p:nvSpPr>
        <p:spPr>
          <a:xfrm>
            <a:off x="5321596" y="2794912"/>
            <a:ext cx="3557512" cy="1200329"/>
          </a:xfrm>
          <a:prstGeom prst="rect">
            <a:avLst/>
          </a:prstGeom>
          <a:noFill/>
          <a:ln w="19050">
            <a:solidFill>
              <a:srgbClr val="00A0A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Always takes the next record</a:t>
            </a:r>
            <a:br>
              <a:rPr lang="en-US" dirty="0">
                <a:solidFill>
                  <a:srgbClr val="00A0AE"/>
                </a:solidFill>
              </a:rPr>
            </a:br>
            <a:r>
              <a:rPr lang="en-US" dirty="0">
                <a:solidFill>
                  <a:srgbClr val="00A0AE"/>
                </a:solidFill>
              </a:rPr>
              <a:t>from the set of records and </a:t>
            </a:r>
            <a:br>
              <a:rPr lang="en-US" dirty="0">
                <a:solidFill>
                  <a:srgbClr val="00A0AE"/>
                </a:solidFill>
              </a:rPr>
            </a:br>
            <a:r>
              <a:rPr lang="en-US" dirty="0">
                <a:solidFill>
                  <a:srgbClr val="00A0AE"/>
                </a:solidFill>
              </a:rPr>
              <a:t>saves that one as an </a:t>
            </a:r>
            <a:br>
              <a:rPr lang="en-US" dirty="0">
                <a:solidFill>
                  <a:srgbClr val="00A0AE"/>
                </a:solidFill>
              </a:rPr>
            </a:br>
            <a:r>
              <a:rPr lang="en-US" dirty="0">
                <a:solidFill>
                  <a:srgbClr val="00A0AE"/>
                </a:solidFill>
              </a:rPr>
              <a:t>associative array</a:t>
            </a:r>
            <a:endParaRPr lang="nl-BE" dirty="0">
              <a:solidFill>
                <a:srgbClr val="00A0AE"/>
              </a:solidFill>
            </a:endParaRPr>
          </a:p>
        </p:txBody>
      </p:sp>
      <p:cxnSp>
        <p:nvCxnSpPr>
          <p:cNvPr id="10" name="Rechte verbindingslijn met pijl 9"/>
          <p:cNvCxnSpPr>
            <a:stCxn id="6" idx="5"/>
            <a:endCxn id="8" idx="1"/>
          </p:cNvCxnSpPr>
          <p:nvPr/>
        </p:nvCxnSpPr>
        <p:spPr>
          <a:xfrm>
            <a:off x="3277200" y="3256958"/>
            <a:ext cx="2044396" cy="138119"/>
          </a:xfrm>
          <a:prstGeom prst="straightConnector1">
            <a:avLst/>
          </a:prstGeom>
          <a:ln w="19050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27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mysqli_close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5: close connection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5555411" y="4364966"/>
            <a:ext cx="11753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000" dirty="0" err="1">
                <a:latin typeface="Trebuchet MS" panose="020B0603020202020204" pitchFamily="34" charset="0"/>
                <a:hlinkClick r:id="rId2"/>
              </a:rPr>
              <a:t>result</a:t>
            </a:r>
            <a:endParaRPr lang="nl-BE" sz="3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82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93200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&lt;!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doctype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html&gt;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&lt;meta charset="utf-8" /&gt;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&lt;title&gt;PHP and MySQL&lt;/title&gt;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class="wrapper"&gt;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&lt;form action="&lt;?</a:t>
            </a:r>
            <a:r>
              <a:rPr lang="en-US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echo $_SERVER['PHP_SELF']; ?&gt;" method="post"&gt;  </a:t>
            </a:r>
          </a:p>
          <a:p>
            <a:pPr marL="0" indent="0">
              <a:buNone/>
            </a:pPr>
            <a:r>
              <a:rPr lang="en-US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		in this form you ask the user to enter a search term</a:t>
            </a:r>
          </a:p>
          <a:p>
            <a:pPr marL="0" indent="0">
              <a:buNone/>
            </a:pPr>
            <a:r>
              <a:rPr lang="en-US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&lt;/form&gt;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noProof="0" dirty="0">
              <a:solidFill>
                <a:srgbClr val="EC4B2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//put here database access + processing of data</a:t>
            </a:r>
          </a:p>
          <a:p>
            <a:pPr marL="0" indent="0">
              <a:buNone/>
            </a:pPr>
            <a:r>
              <a:rPr lang="en-US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?&gt;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pPr marL="0" indent="0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enter search term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76489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8220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class="wrapper"&gt;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&lt;h2&gt;students&lt;/h2&gt;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&lt;form action="&lt;?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echo $_SERVER['PHP_SELF']; ?&gt;" 	  	  method="post"&gt; 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	&lt;p&gt;Name: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&lt;input type="text" name="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searchName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 /&gt; 	 	&lt;/p&gt;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 	&lt;p&gt;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&lt;input type ="submit" name="send" 								value="search" /&gt;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&lt;/p&gt;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&lt;/form&gt;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form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8964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82974"/>
          </a:xfrm>
        </p:spPr>
        <p:txBody>
          <a:bodyPr>
            <a:normAutofit/>
          </a:bodyPr>
          <a:lstStyle/>
          <a:p>
            <a:r>
              <a:rPr lang="en-US" noProof="0" dirty="0" err="1"/>
              <a:t>Initialisation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endParaRPr lang="en-US" noProof="0" dirty="0"/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isset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($_POST['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searchName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']))	</a:t>
            </a: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//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initialisation</a:t>
            </a: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$host		= 'localhost';</a:t>
            </a: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$user	 	= '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Webuser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$password		</a:t>
            </a:r>
            <a:r>
              <a:rPr lang="en-US" sz="2000" noProof="0">
                <a:latin typeface="Courier New" panose="02070309020205020404" pitchFamily="49" charset="0"/>
                <a:cs typeface="Courier New" panose="02070309020205020404" pitchFamily="49" charset="0"/>
              </a:rPr>
              <a:t>= 'Lab2024';</a:t>
            </a: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$database 	= 'college';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find in database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5725655" y="2269961"/>
            <a:ext cx="3351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A0AE"/>
                </a:solidFill>
              </a:rPr>
              <a:t>execute only after sending </a:t>
            </a:r>
          </a:p>
          <a:p>
            <a:r>
              <a:rPr lang="en-US" dirty="0">
                <a:solidFill>
                  <a:srgbClr val="00A0AE"/>
                </a:solidFill>
              </a:rPr>
              <a:t>form data</a:t>
            </a:r>
            <a:endParaRPr lang="nl-BE" dirty="0">
              <a:solidFill>
                <a:srgbClr val="00A0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61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800" noProof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2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step 1:establishing the connection</a:t>
            </a: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$link = </a:t>
            </a:r>
          </a:p>
          <a:p>
            <a:pPr marL="0" indent="0">
              <a:buNone/>
            </a:pPr>
            <a:r>
              <a:rPr lang="en-US" sz="24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mysqli_connect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($host, $user, $password) </a:t>
            </a:r>
          </a:p>
          <a:p>
            <a:pPr marL="0" indent="0">
              <a:buNone/>
            </a:pPr>
            <a:r>
              <a:rPr lang="en-US" sz="2400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die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no connection can be made to 				the host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0" indent="0">
              <a:buNone/>
            </a:pPr>
            <a:endParaRPr lang="en-US" sz="2800" noProof="0" dirty="0"/>
          </a:p>
          <a:p>
            <a:pPr marL="400050" lvl="1" indent="0">
              <a:buNone/>
            </a:pPr>
            <a:endParaRPr lang="en-US" sz="24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find in database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53444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800" noProof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//step 2</a:t>
            </a:r>
            <a:r>
              <a:rPr lang="en-US" sz="2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check whether the database can be opened</a:t>
            </a: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mysqli_select_db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$database) </a:t>
            </a:r>
          </a:p>
          <a:p>
            <a:pPr marL="0" indent="0">
              <a:buNone/>
            </a:pPr>
            <a:r>
              <a:rPr lang="en-US" sz="2800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die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the database could not 					be opened");</a:t>
            </a: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sz="24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find in database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70616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2800" noProof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//step 3</a:t>
            </a:r>
            <a:r>
              <a:rPr lang="en-US" sz="2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create and execute the query</a:t>
            </a: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$query = "SELECT * FROM students			 	 	 WHERE name LIKE 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 '%". $_POST["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searchName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"]."%'";</a:t>
            </a: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$result = </a:t>
            </a:r>
            <a:r>
              <a:rPr lang="en-US" sz="28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$query) </a:t>
            </a:r>
          </a:p>
          <a:p>
            <a:pPr marL="0" indent="0">
              <a:buNone/>
            </a:pPr>
            <a:r>
              <a:rPr lang="en-US" sz="2800" noProof="0" dirty="0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or die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an error has 					occurred while 						executing the query");</a:t>
            </a: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execute query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59998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932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4</a:t>
            </a:r>
            <a:r>
              <a:rPr lang="en-US" sz="2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write the results to the screen</a:t>
            </a: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echo("&lt;h2&gt;Students&lt;/h2&gt;");</a:t>
            </a: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echo("&lt;table&gt;&lt;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&gt;id&lt;/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&gt;name&lt;/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&gt;postal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code&lt;/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&gt;city&lt;/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&gt;");</a:t>
            </a:r>
          </a:p>
          <a:p>
            <a:pPr marL="0" indent="0">
              <a:buNone/>
            </a:pPr>
            <a:endParaRPr lang="en-US" sz="28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while($row = </a:t>
            </a:r>
            <a:r>
              <a:rPr lang="en-US" sz="2800" noProof="0" dirty="0" err="1">
                <a:solidFill>
                  <a:srgbClr val="EC4B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mysqli_fetch_array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($result))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echo("&lt;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8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studNo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$row['name']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8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</a:t>
            </a:r>
            <a:r>
              <a:rPr lang="en-US" sz="2800" noProof="0" dirty="0" err="1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postalCode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	&lt;td&gt;".</a:t>
            </a:r>
            <a:r>
              <a:rPr lang="en-US" sz="2800" noProof="0" dirty="0">
                <a:solidFill>
                  <a:srgbClr val="00A0A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$row['city']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."&lt;/td&gt;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    &lt;/</a:t>
            </a: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&gt; ");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echo("&lt;/table&gt;");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process data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82357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93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noProof="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5: </a:t>
            </a:r>
            <a:r>
              <a:rPr lang="en-US" sz="28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closing the connection to 			the database</a:t>
            </a: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noProof="0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mysqli_close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($link);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example: </a:t>
            </a:r>
            <a:r>
              <a:rPr lang="en-US" noProof="0"/>
              <a:t>close link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5555411" y="4364966"/>
            <a:ext cx="11753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000" dirty="0" err="1">
                <a:latin typeface="Trebuchet MS" panose="020B0603020202020204" pitchFamily="34" charset="0"/>
                <a:hlinkClick r:id="rId2"/>
              </a:rPr>
              <a:t>result</a:t>
            </a:r>
            <a:endParaRPr lang="nl-BE" sz="3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45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(!empty($_POST['name']) &amp;&amp; !empty($_POST['city'])) //check data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$query="INSERT INTO students (name, city) 		    	    	    VALUES 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  ('". $_POST['name']. "',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   '". $_POST['city']. "')";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$query); //run query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Write data to database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3994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input can always be abused!!!!</a:t>
            </a:r>
            <a:endParaRPr lang="en-US" noProof="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noProof="0" dirty="0"/>
              <a:t> 	Secure</a:t>
            </a:r>
          </a:p>
          <a:p>
            <a:endParaRPr lang="en-US" noProof="0" dirty="0"/>
          </a:p>
          <a:p>
            <a:r>
              <a:rPr lang="en-US" noProof="0" dirty="0"/>
              <a:t>example possible login check</a:t>
            </a:r>
          </a:p>
          <a:p>
            <a:pPr lvl="1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tblUsers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WHERE login = 'Smith' AND password = 'test';</a:t>
            </a:r>
          </a:p>
          <a:p>
            <a:pPr lvl="1"/>
            <a:r>
              <a:rPr lang="en-US" dirty="0"/>
              <a:t>If answer contains 1 record =&gt; person is correctly logged in and gets access to site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Sql injection!!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503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noProof="0" dirty="0"/>
              <a:t>In </a:t>
            </a:r>
            <a:r>
              <a:rPr lang="en-US" noProof="0" dirty="0" err="1"/>
              <a:t>php</a:t>
            </a:r>
            <a:r>
              <a:rPr lang="en-US" noProof="0" dirty="0"/>
              <a:t>: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$query = "SELECT * FROM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tblUsers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	login = '".$_POST['login']."' AND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	password = '".$_POST['password']."'";</a:t>
            </a:r>
          </a:p>
          <a:p>
            <a:pPr marL="0" indent="0">
              <a:buNone/>
            </a:pPr>
            <a:endParaRPr lang="en-US" sz="2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noProof="0" dirty="0"/>
              <a:t>Suppose user enters as password:</a:t>
            </a:r>
          </a:p>
          <a:p>
            <a:pPr marL="400050" lvl="1" indent="0">
              <a:buNone/>
            </a:pP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test'OR'a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'='a</a:t>
            </a:r>
          </a:p>
          <a:p>
            <a:pPr marL="400050" lvl="1" indent="0">
              <a:buNone/>
            </a:pPr>
            <a:endParaRPr lang="en-US" sz="2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3850" lvl="1" indent="-323850">
              <a:buSzPct val="90000"/>
              <a:buFont typeface="Verdana" pitchFamily="34" charset="0"/>
              <a:buChar char="•"/>
            </a:pPr>
            <a:r>
              <a:rPr lang="en-US" sz="3000" noProof="0" dirty="0"/>
              <a:t>Enter in query results in:</a:t>
            </a:r>
          </a:p>
          <a:p>
            <a:pPr marL="0" indent="0">
              <a:buNone/>
            </a:pPr>
            <a:r>
              <a:rPr lang="en-US" sz="3000" noProof="0" dirty="0"/>
              <a:t>    </a:t>
            </a:r>
            <a:r>
              <a:rPr lang="en-US" sz="2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22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tblUsers</a:t>
            </a:r>
            <a:r>
              <a:rPr lang="en-US" sz="2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WHERE login = 'Smith' AND</a:t>
            </a:r>
          </a:p>
          <a:p>
            <a:pPr marL="0" indent="0">
              <a:buNone/>
            </a:pPr>
            <a:r>
              <a:rPr lang="en-US" sz="2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password = 'test' OR 'a' = 'a';</a:t>
            </a:r>
            <a:endParaRPr lang="en-US" sz="52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Sql injection: example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6" name="Ovaal 5"/>
          <p:cNvSpPr/>
          <p:nvPr/>
        </p:nvSpPr>
        <p:spPr>
          <a:xfrm>
            <a:off x="4062714" y="5000263"/>
            <a:ext cx="1643605" cy="405114"/>
          </a:xfrm>
          <a:prstGeom prst="ellipse">
            <a:avLst/>
          </a:prstGeom>
          <a:solidFill>
            <a:srgbClr val="EC4B2F">
              <a:alpha val="20000"/>
            </a:srgbClr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Tekstvak 6"/>
          <p:cNvSpPr txBox="1"/>
          <p:nvPr/>
        </p:nvSpPr>
        <p:spPr>
          <a:xfrm>
            <a:off x="6018835" y="5220711"/>
            <a:ext cx="2754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solidFill>
                  <a:srgbClr val="EC4B2F"/>
                </a:solidFill>
              </a:rPr>
              <a:t>Always </a:t>
            </a:r>
            <a:r>
              <a:rPr lang="nl-BE" sz="2000" dirty="0" err="1">
                <a:solidFill>
                  <a:srgbClr val="EC4B2F"/>
                </a:solidFill>
              </a:rPr>
              <a:t>true</a:t>
            </a:r>
            <a:r>
              <a:rPr lang="nl-BE" sz="2000" dirty="0">
                <a:solidFill>
                  <a:srgbClr val="EC4B2F"/>
                </a:solidFill>
              </a:rPr>
              <a:t>!!!</a:t>
            </a:r>
          </a:p>
          <a:p>
            <a:r>
              <a:rPr lang="nl-BE" sz="2000" dirty="0">
                <a:solidFill>
                  <a:srgbClr val="EC4B2F"/>
                </a:solidFill>
              </a:rPr>
              <a:t>Access </a:t>
            </a:r>
            <a:r>
              <a:rPr lang="nl-BE" sz="2000" dirty="0" err="1">
                <a:solidFill>
                  <a:srgbClr val="EC4B2F"/>
                </a:solidFill>
              </a:rPr>
              <a:t>guaranteed</a:t>
            </a:r>
            <a:r>
              <a:rPr lang="nl-BE" sz="2000" dirty="0">
                <a:solidFill>
                  <a:srgbClr val="EC4B2F"/>
                </a:solidFill>
              </a:rPr>
              <a:t>!</a:t>
            </a:r>
          </a:p>
        </p:txBody>
      </p:sp>
      <p:cxnSp>
        <p:nvCxnSpPr>
          <p:cNvPr id="9" name="Rechte verbindingslijn met pijl 8"/>
          <p:cNvCxnSpPr>
            <a:cxnSpLocks/>
          </p:cNvCxnSpPr>
          <p:nvPr/>
        </p:nvCxnSpPr>
        <p:spPr>
          <a:xfrm>
            <a:off x="5436682" y="5346049"/>
            <a:ext cx="582153" cy="233951"/>
          </a:xfrm>
          <a:prstGeom prst="straightConnector1">
            <a:avLst/>
          </a:prstGeom>
          <a:ln w="1905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34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Sql injection: example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14" name="Tijdelijke aanduiding voor inhoud 1">
            <a:extLst>
              <a:ext uri="{FF2B5EF4-FFF2-40B4-BE49-F238E27FC236}">
                <a16:creationId xmlns:a16="http://schemas.microsoft.com/office/drawing/2014/main" id="{6B016015-9481-B9EB-5BEF-F42C3D908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5062188"/>
          </a:xfrm>
        </p:spPr>
        <p:txBody>
          <a:bodyPr>
            <a:normAutofit lnSpcReduction="10000"/>
          </a:bodyPr>
          <a:lstStyle/>
          <a:p>
            <a:r>
              <a:rPr lang="en-US" sz="2800" noProof="0" dirty="0"/>
              <a:t>In </a:t>
            </a:r>
            <a:r>
              <a:rPr lang="en-US" sz="2800" noProof="0" dirty="0" err="1"/>
              <a:t>php</a:t>
            </a:r>
            <a:r>
              <a:rPr lang="en-US" sz="2800" noProof="0" dirty="0"/>
              <a:t>:</a:t>
            </a:r>
          </a:p>
          <a:p>
            <a:pPr marL="0" indent="0">
              <a:buNone/>
            </a:pPr>
            <a:r>
              <a:rPr lang="en-US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$query = "SELECT * FROM Products WHERE </a:t>
            </a:r>
          </a:p>
          <a:p>
            <a:pPr marL="0" indent="0">
              <a:buNone/>
            </a:pP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	  	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'%".$_POST['search']."%'";</a:t>
            </a:r>
          </a:p>
          <a:p>
            <a:pPr marL="0" indent="0">
              <a:buNone/>
            </a:pPr>
            <a:endParaRPr lang="en-US" sz="1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noProof="0" dirty="0"/>
              <a:t>Suppose user enters </a:t>
            </a:r>
            <a:r>
              <a:rPr lang="en-US" sz="2800" dirty="0"/>
              <a:t>in search field</a:t>
            </a:r>
            <a:r>
              <a:rPr lang="en-US" sz="2800" noProof="0" dirty="0"/>
              <a:t>: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otherboard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%’ UNION SELECT * FROM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information_schema.tables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LIKE '%user</a:t>
            </a:r>
          </a:p>
          <a:p>
            <a:pPr marL="400050" lvl="1" indent="0">
              <a:buNone/>
            </a:pP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23850" lvl="1" indent="-323850">
              <a:buSzPct val="90000"/>
              <a:buFont typeface="Verdana" pitchFamily="34" charset="0"/>
              <a:buChar char="•"/>
            </a:pPr>
            <a:r>
              <a:rPr lang="en-US" sz="2800" noProof="0" dirty="0"/>
              <a:t>query results in:</a:t>
            </a:r>
          </a:p>
          <a:p>
            <a:pPr marL="0" indent="0">
              <a:buNone/>
            </a:pPr>
            <a:r>
              <a:rPr lang="en-US" sz="2800" noProof="0" dirty="0"/>
              <a:t>    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Products 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'%motherboard%’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UNION SELECT * 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information_schema.tables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WHERE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like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'%user%';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2E67E961-F4C9-4D66-49B8-3E1582CDCAE8}"/>
              </a:ext>
            </a:extLst>
          </p:cNvPr>
          <p:cNvSpPr/>
          <p:nvPr/>
        </p:nvSpPr>
        <p:spPr>
          <a:xfrm>
            <a:off x="3988070" y="5428799"/>
            <a:ext cx="1643605" cy="405114"/>
          </a:xfrm>
          <a:prstGeom prst="ellipse">
            <a:avLst/>
          </a:prstGeom>
          <a:solidFill>
            <a:srgbClr val="EC4B2F">
              <a:alpha val="20000"/>
            </a:srgbClr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9CD13B7-22EF-D0E7-0564-1DD10F46C30A}"/>
              </a:ext>
            </a:extLst>
          </p:cNvPr>
          <p:cNvSpPr txBox="1"/>
          <p:nvPr/>
        </p:nvSpPr>
        <p:spPr>
          <a:xfrm>
            <a:off x="3194612" y="6024051"/>
            <a:ext cx="3691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 err="1">
                <a:solidFill>
                  <a:schemeClr val="bg1"/>
                </a:solidFill>
              </a:rPr>
              <a:t>Allows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you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to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find</a:t>
            </a:r>
            <a:r>
              <a:rPr lang="nl-BE" sz="2000" dirty="0">
                <a:solidFill>
                  <a:schemeClr val="bg1"/>
                </a:solidFill>
              </a:rPr>
              <a:t> </a:t>
            </a:r>
            <a:r>
              <a:rPr lang="nl-BE" sz="2000" dirty="0" err="1">
                <a:solidFill>
                  <a:schemeClr val="bg1"/>
                </a:solidFill>
              </a:rPr>
              <a:t>the</a:t>
            </a:r>
            <a:r>
              <a:rPr lang="nl-BE" sz="2000" dirty="0">
                <a:solidFill>
                  <a:schemeClr val="bg1"/>
                </a:solidFill>
              </a:rPr>
              <a:t> name of </a:t>
            </a:r>
            <a:r>
              <a:rPr lang="nl-BE" sz="2000" dirty="0" err="1">
                <a:solidFill>
                  <a:schemeClr val="bg1"/>
                </a:solidFill>
              </a:rPr>
              <a:t>the</a:t>
            </a:r>
            <a:r>
              <a:rPr lang="nl-BE" sz="2000" dirty="0">
                <a:solidFill>
                  <a:schemeClr val="bg1"/>
                </a:solidFill>
              </a:rPr>
              <a:t> user </a:t>
            </a:r>
            <a:r>
              <a:rPr lang="nl-BE" sz="2000" dirty="0" err="1">
                <a:solidFill>
                  <a:schemeClr val="bg1"/>
                </a:solidFill>
              </a:rPr>
              <a:t>table</a:t>
            </a:r>
            <a:endParaRPr lang="nl-B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17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72" y="2126797"/>
            <a:ext cx="8211657" cy="2604407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SQL INJECTION: EXAMPLE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26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95222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24257"/>
          </a:xfrm>
        </p:spPr>
        <p:txBody>
          <a:bodyPr>
            <a:normAutofit fontScale="85000" lnSpcReduction="10000"/>
          </a:bodyPr>
          <a:lstStyle/>
          <a:p>
            <a:r>
              <a:rPr lang="en-US" noProof="0" dirty="0"/>
              <a:t>Adapt user input string:</a:t>
            </a:r>
          </a:p>
          <a:p>
            <a:pPr lvl="1"/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mysqli_real_escape_string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($link, $string)</a:t>
            </a:r>
            <a:r>
              <a:rPr lang="en-US" noProof="0" dirty="0"/>
              <a:t>:</a:t>
            </a:r>
          </a:p>
          <a:p>
            <a:pPr lvl="2">
              <a:lnSpc>
                <a:spcPct val="120000"/>
              </a:lnSpc>
            </a:pPr>
            <a:r>
              <a:rPr lang="en-US" sz="2300" noProof="0" dirty="0"/>
              <a:t>escapes all </a:t>
            </a:r>
            <a:r>
              <a:rPr lang="en-US" sz="2300" noProof="0"/>
              <a:t>' and </a:t>
            </a:r>
            <a:r>
              <a:rPr lang="en-US" dirty="0"/>
              <a:t>" without writing backslashes to the database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turns the string into a valid SQL statement and takes into account the charset of the connection</a:t>
            </a:r>
            <a:br>
              <a:rPr lang="en-US" dirty="0"/>
            </a:br>
            <a:endParaRPr lang="en-US" noProof="0" dirty="0"/>
          </a:p>
          <a:p>
            <a:pPr lvl="1"/>
            <a:r>
              <a:rPr lang="en-US" noProof="0" dirty="0"/>
              <a:t>Older functions:</a:t>
            </a:r>
          </a:p>
          <a:p>
            <a:pPr lvl="2">
              <a:lnSpc>
                <a:spcPct val="120000"/>
              </a:lnSpc>
            </a:pPr>
            <a:r>
              <a:rPr lang="en-US" noProof="0" dirty="0" err="1"/>
              <a:t>magic_quotes</a:t>
            </a:r>
            <a:r>
              <a:rPr lang="en-US" noProof="0" dirty="0"/>
              <a:t>: 	escapes ', ", \ and null automatically =&gt; too 			general =&gt; </a:t>
            </a:r>
            <a:r>
              <a:rPr lang="en-US" noProof="0" dirty="0">
                <a:hlinkClick r:id="rId2"/>
              </a:rPr>
              <a:t>disable</a:t>
            </a:r>
            <a:r>
              <a:rPr lang="en-US" noProof="0" dirty="0"/>
              <a:t> if enabled!!</a:t>
            </a:r>
          </a:p>
          <a:p>
            <a:pPr lvl="2"/>
            <a:endParaRPr lang="en-US" noProof="0" dirty="0"/>
          </a:p>
          <a:p>
            <a:pPr lvl="2"/>
            <a:endParaRPr lang="en-US" noProof="0" dirty="0"/>
          </a:p>
          <a:p>
            <a:pPr lvl="2"/>
            <a:r>
              <a:rPr lang="en-US" noProof="0" dirty="0" err="1"/>
              <a:t>addslashes</a:t>
            </a:r>
            <a:r>
              <a:rPr lang="en-US" noProof="0" dirty="0"/>
              <a:t>(): too general!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Protection against Sql injection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27</a:t>
            </a:fld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51" y="4843648"/>
            <a:ext cx="7902625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29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9764"/>
          </a:xfrm>
        </p:spPr>
        <p:txBody>
          <a:bodyPr>
            <a:normAutofit fontScale="47500" lnSpcReduction="20000"/>
          </a:bodyPr>
          <a:lstStyle/>
          <a:p>
            <a:r>
              <a:rPr lang="en-US" sz="5500" noProof="0" dirty="0"/>
              <a:t>Check user input:</a:t>
            </a:r>
          </a:p>
          <a:p>
            <a:pPr lvl="1"/>
            <a:r>
              <a:rPr lang="en-US" sz="5100" noProof="0" dirty="0">
                <a:hlinkClick r:id="rId2"/>
              </a:rPr>
              <a:t>filter_var</a:t>
            </a:r>
            <a:r>
              <a:rPr lang="en-US" sz="5100" noProof="0" dirty="0"/>
              <a:t>($string, FILTERTYPE, options);</a:t>
            </a:r>
          </a:p>
          <a:p>
            <a:pPr marL="0" indent="0">
              <a:buNone/>
            </a:pPr>
            <a:endParaRPr lang="en-US" sz="5500" noProof="0" dirty="0"/>
          </a:p>
          <a:p>
            <a:pPr marL="614363" lvl="2" indent="0">
              <a:buNone/>
            </a:pPr>
            <a:r>
              <a:rPr lang="en-US" sz="4200" noProof="0" dirty="0">
                <a:hlinkClick r:id="rId3"/>
              </a:rPr>
              <a:t>Validate filters</a:t>
            </a:r>
            <a:r>
              <a:rPr lang="en-US" sz="4200" noProof="0" dirty="0"/>
              <a:t>: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FILTER_VALIDATE_BOOLEAN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FILTER_VALIDATE_EMAIL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FILTER_VALIDATE_FLOAT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FILTER_VALIDATE_INT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FILTER_VALIDATE_IP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FILTER_VALIDATE_REGEXP</a:t>
            </a:r>
          </a:p>
          <a:p>
            <a:pPr lvl="3">
              <a:lnSpc>
                <a:spcPct val="110000"/>
              </a:lnSpc>
              <a:buSzPct val="90000"/>
            </a:pPr>
            <a:r>
              <a:rPr lang="en-US" sz="4200" noProof="0" dirty="0"/>
              <a:t>FILTER_VALIDATE_URL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against Sql injection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28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07056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9764"/>
          </a:xfrm>
        </p:spPr>
        <p:txBody>
          <a:bodyPr>
            <a:normAutofit fontScale="40000" lnSpcReduction="20000"/>
          </a:bodyPr>
          <a:lstStyle/>
          <a:p>
            <a:r>
              <a:rPr lang="en-US" sz="5500" noProof="0" dirty="0"/>
              <a:t>Check user input:</a:t>
            </a:r>
          </a:p>
          <a:p>
            <a:pPr marL="355600" lvl="1" indent="0">
              <a:buNone/>
            </a:pPr>
            <a:r>
              <a:rPr lang="en-US" sz="42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preg_match</a:t>
            </a:r>
            <a:r>
              <a:rPr lang="en-US" sz="42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(string $pattern, string $subject)</a:t>
            </a:r>
          </a:p>
          <a:p>
            <a:pPr marL="355600" lvl="1" indent="0">
              <a:buNone/>
            </a:pPr>
            <a:endParaRPr lang="en-US" sz="42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500" noProof="0" dirty="0"/>
              <a:t>test input against regular expression or pattern</a:t>
            </a:r>
          </a:p>
          <a:p>
            <a:endParaRPr lang="en-US" sz="5500" noProof="0" dirty="0"/>
          </a:p>
          <a:p>
            <a:r>
              <a:rPr lang="en-US" sz="5500" noProof="0" dirty="0"/>
              <a:t>examples of syntax:</a:t>
            </a:r>
          </a:p>
          <a:p>
            <a:pPr lvl="1"/>
            <a:r>
              <a:rPr lang="en-US" sz="5400" noProof="0" dirty="0"/>
              <a:t>^ = start of the string</a:t>
            </a:r>
          </a:p>
          <a:p>
            <a:pPr lvl="1"/>
            <a:r>
              <a:rPr lang="en-US" sz="5400" noProof="0" dirty="0"/>
              <a:t>$ = end of the string</a:t>
            </a:r>
          </a:p>
          <a:p>
            <a:pPr lvl="1"/>
            <a:r>
              <a:rPr lang="en-US" sz="5400" noProof="0" dirty="0"/>
              <a:t>. = every possible char</a:t>
            </a:r>
          </a:p>
          <a:p>
            <a:pPr lvl="1"/>
            <a:r>
              <a:rPr lang="en-US" sz="5400" noProof="0" dirty="0"/>
              <a:t>\ = escape sign; example \$ means literally a $-sign</a:t>
            </a:r>
          </a:p>
          <a:p>
            <a:pPr lvl="1"/>
            <a:r>
              <a:rPr lang="en-US" sz="5400" noProof="0" dirty="0"/>
              <a:t>+ = minimum one char</a:t>
            </a:r>
          </a:p>
          <a:p>
            <a:pPr lvl="1"/>
            <a:r>
              <a:rPr lang="en-US" sz="5400" noProof="0" dirty="0"/>
              <a:t>? = zero or one char</a:t>
            </a:r>
          </a:p>
          <a:p>
            <a:pPr lvl="1"/>
            <a:r>
              <a:rPr lang="en-US" sz="5400" noProof="0" dirty="0"/>
              <a:t>[A-Z] = all capital letters are allowed</a:t>
            </a:r>
          </a:p>
          <a:p>
            <a:pPr lvl="1"/>
            <a:endParaRPr lang="en-US" sz="5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against Sql injection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3697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example check email:</a:t>
            </a:r>
          </a:p>
          <a:p>
            <a:pPr lvl="1"/>
            <a:r>
              <a:rPr lang="en-US" noProof="0" dirty="0"/>
              <a:t>It needs to contain an </a:t>
            </a:r>
            <a:r>
              <a:rPr lang="en-US" noProof="0" dirty="0">
                <a:solidFill>
                  <a:srgbClr val="FF0000"/>
                </a:solidFill>
              </a:rPr>
              <a:t>@</a:t>
            </a:r>
            <a:r>
              <a:rPr lang="en-US" noProof="0" dirty="0"/>
              <a:t> </a:t>
            </a:r>
          </a:p>
          <a:p>
            <a:pPr lvl="1"/>
            <a:r>
              <a:rPr lang="en-US" noProof="0" dirty="0"/>
              <a:t>After the </a:t>
            </a:r>
            <a:r>
              <a:rPr lang="en-US" noProof="0" dirty="0">
                <a:solidFill>
                  <a:srgbClr val="FF0000"/>
                </a:solidFill>
              </a:rPr>
              <a:t>@</a:t>
            </a:r>
            <a:r>
              <a:rPr lang="en-US" noProof="0" dirty="0"/>
              <a:t> a domain must be present and that domain must contain at least a </a:t>
            </a:r>
            <a:r>
              <a:rPr lang="en-US" noProof="0" dirty="0">
                <a:solidFill>
                  <a:srgbClr val="FF0000"/>
                </a:solidFill>
              </a:rPr>
              <a:t>dot</a:t>
            </a:r>
            <a:r>
              <a:rPr lang="en-US" noProof="0" dirty="0"/>
              <a:t> followed by </a:t>
            </a:r>
            <a:r>
              <a:rPr lang="en-US" noProof="0" dirty="0">
                <a:solidFill>
                  <a:srgbClr val="FF0000"/>
                </a:solidFill>
              </a:rPr>
              <a:t>two or </a:t>
            </a:r>
            <a:r>
              <a:rPr lang="en-US" dirty="0" err="1">
                <a:solidFill>
                  <a:srgbClr val="FF0000"/>
                </a:solidFill>
              </a:rPr>
              <a:t>th</a:t>
            </a:r>
            <a:r>
              <a:rPr lang="en-US" noProof="0" dirty="0" err="1">
                <a:solidFill>
                  <a:srgbClr val="FF0000"/>
                </a:solidFill>
              </a:rPr>
              <a:t>ree</a:t>
            </a:r>
            <a:r>
              <a:rPr lang="en-US" noProof="0" dirty="0">
                <a:solidFill>
                  <a:srgbClr val="FF0000"/>
                </a:solidFill>
              </a:rPr>
              <a:t> chars</a:t>
            </a:r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Simple email check:</a:t>
            </a:r>
          </a:p>
          <a:p>
            <a:pPr lvl="1"/>
            <a:endParaRPr lang="en-US" noProof="0" dirty="0"/>
          </a:p>
          <a:p>
            <a:pPr marL="355600" lvl="1" indent="0">
              <a:buNone/>
            </a:pPr>
            <a:r>
              <a:rPr lang="en-US" noProof="0" dirty="0"/>
              <a:t>	. + @ . + \. . +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REGEX	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4452252" y="4011105"/>
            <a:ext cx="2487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C00000"/>
                </a:solidFill>
              </a:rPr>
              <a:t>Every </a:t>
            </a:r>
            <a:r>
              <a:rPr lang="nl-BE" dirty="0" err="1">
                <a:solidFill>
                  <a:srgbClr val="C00000"/>
                </a:solidFill>
              </a:rPr>
              <a:t>possible</a:t>
            </a:r>
            <a:r>
              <a:rPr lang="nl-BE" dirty="0">
                <a:solidFill>
                  <a:srgbClr val="C00000"/>
                </a:solidFill>
              </a:rPr>
              <a:t> </a:t>
            </a:r>
            <a:r>
              <a:rPr lang="nl-BE" dirty="0" err="1">
                <a:solidFill>
                  <a:srgbClr val="C00000"/>
                </a:solidFill>
              </a:rPr>
              <a:t>char</a:t>
            </a:r>
            <a:r>
              <a:rPr lang="nl-BE" dirty="0">
                <a:solidFill>
                  <a:srgbClr val="C00000"/>
                </a:solidFill>
              </a:rPr>
              <a:t>,</a:t>
            </a:r>
          </a:p>
          <a:p>
            <a:r>
              <a:rPr lang="nl-BE" dirty="0" err="1">
                <a:solidFill>
                  <a:srgbClr val="C00000"/>
                </a:solidFill>
              </a:rPr>
              <a:t>once</a:t>
            </a:r>
            <a:r>
              <a:rPr lang="nl-BE" dirty="0">
                <a:solidFill>
                  <a:srgbClr val="C00000"/>
                </a:solidFill>
              </a:rPr>
              <a:t> or more</a:t>
            </a:r>
          </a:p>
        </p:txBody>
      </p:sp>
      <p:sp>
        <p:nvSpPr>
          <p:cNvPr id="7" name="Ovaal 6"/>
          <p:cNvSpPr/>
          <p:nvPr/>
        </p:nvSpPr>
        <p:spPr>
          <a:xfrm>
            <a:off x="1278902" y="4871549"/>
            <a:ext cx="504056" cy="288032"/>
          </a:xfrm>
          <a:prstGeom prst="ellipse">
            <a:avLst/>
          </a:prstGeom>
          <a:solidFill>
            <a:srgbClr val="C00000">
              <a:alpha val="1294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Ovaal 7"/>
          <p:cNvSpPr/>
          <p:nvPr/>
        </p:nvSpPr>
        <p:spPr>
          <a:xfrm>
            <a:off x="2115028" y="4863165"/>
            <a:ext cx="504056" cy="296416"/>
          </a:xfrm>
          <a:prstGeom prst="ellipse">
            <a:avLst/>
          </a:prstGeom>
          <a:solidFill>
            <a:srgbClr val="C00000">
              <a:alpha val="1294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Ovaal 8"/>
          <p:cNvSpPr/>
          <p:nvPr/>
        </p:nvSpPr>
        <p:spPr>
          <a:xfrm>
            <a:off x="2917084" y="4871549"/>
            <a:ext cx="504056" cy="288032"/>
          </a:xfrm>
          <a:prstGeom prst="ellipse">
            <a:avLst/>
          </a:prstGeom>
          <a:solidFill>
            <a:srgbClr val="C00000">
              <a:alpha val="1294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0" name="Rechte verbindingslijn 9"/>
          <p:cNvCxnSpPr>
            <a:stCxn id="7" idx="0"/>
            <a:endCxn id="6" idx="1"/>
          </p:cNvCxnSpPr>
          <p:nvPr/>
        </p:nvCxnSpPr>
        <p:spPr>
          <a:xfrm flipV="1">
            <a:off x="1530930" y="4334271"/>
            <a:ext cx="2921322" cy="5372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/>
          <p:cNvCxnSpPr>
            <a:stCxn id="8" idx="0"/>
            <a:endCxn id="6" idx="1"/>
          </p:cNvCxnSpPr>
          <p:nvPr/>
        </p:nvCxnSpPr>
        <p:spPr>
          <a:xfrm flipV="1">
            <a:off x="2367056" y="4334271"/>
            <a:ext cx="2085196" cy="5288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/>
          <p:cNvCxnSpPr>
            <a:stCxn id="9" idx="0"/>
            <a:endCxn id="6" idx="1"/>
          </p:cNvCxnSpPr>
          <p:nvPr/>
        </p:nvCxnSpPr>
        <p:spPr>
          <a:xfrm flipV="1">
            <a:off x="3169112" y="4334271"/>
            <a:ext cx="1283140" cy="53727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vak 15"/>
          <p:cNvSpPr txBox="1"/>
          <p:nvPr/>
        </p:nvSpPr>
        <p:spPr>
          <a:xfrm>
            <a:off x="850071" y="5314232"/>
            <a:ext cx="255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>
                <a:solidFill>
                  <a:srgbClr val="008E40"/>
                </a:solidFill>
              </a:rPr>
              <a:t>There</a:t>
            </a:r>
            <a:r>
              <a:rPr lang="nl-BE" dirty="0">
                <a:solidFill>
                  <a:srgbClr val="008E40"/>
                </a:solidFill>
              </a:rPr>
              <a:t> must </a:t>
            </a:r>
            <a:r>
              <a:rPr lang="nl-BE" dirty="0" err="1">
                <a:solidFill>
                  <a:srgbClr val="008E40"/>
                </a:solidFill>
              </a:rPr>
              <a:t>be</a:t>
            </a:r>
            <a:r>
              <a:rPr lang="nl-BE" dirty="0">
                <a:solidFill>
                  <a:srgbClr val="008E40"/>
                </a:solidFill>
              </a:rPr>
              <a:t> an @</a:t>
            </a:r>
            <a:br>
              <a:rPr lang="nl-BE" dirty="0">
                <a:solidFill>
                  <a:srgbClr val="008E40"/>
                </a:solidFill>
              </a:rPr>
            </a:br>
            <a:r>
              <a:rPr lang="nl-BE" dirty="0">
                <a:solidFill>
                  <a:srgbClr val="008E40"/>
                </a:solidFill>
              </a:rPr>
              <a:t>but </a:t>
            </a:r>
            <a:r>
              <a:rPr lang="nl-BE" dirty="0" err="1">
                <a:solidFill>
                  <a:srgbClr val="008E40"/>
                </a:solidFill>
              </a:rPr>
              <a:t>not</a:t>
            </a:r>
            <a:r>
              <a:rPr lang="nl-BE" dirty="0">
                <a:solidFill>
                  <a:srgbClr val="008E40"/>
                </a:solidFill>
              </a:rPr>
              <a:t> at </a:t>
            </a:r>
            <a:r>
              <a:rPr lang="nl-BE" dirty="0" err="1">
                <a:solidFill>
                  <a:srgbClr val="008E40"/>
                </a:solidFill>
              </a:rPr>
              <a:t>the</a:t>
            </a:r>
            <a:r>
              <a:rPr lang="nl-BE" dirty="0">
                <a:solidFill>
                  <a:srgbClr val="008E40"/>
                </a:solidFill>
              </a:rPr>
              <a:t> start</a:t>
            </a:r>
          </a:p>
        </p:txBody>
      </p:sp>
      <p:sp>
        <p:nvSpPr>
          <p:cNvPr id="17" name="Ovaal 16"/>
          <p:cNvSpPr/>
          <p:nvPr/>
        </p:nvSpPr>
        <p:spPr>
          <a:xfrm>
            <a:off x="1817362" y="4848048"/>
            <a:ext cx="288032" cy="288032"/>
          </a:xfrm>
          <a:prstGeom prst="ellipse">
            <a:avLst/>
          </a:prstGeom>
          <a:solidFill>
            <a:srgbClr val="008E40">
              <a:alpha val="12941"/>
            </a:srgbClr>
          </a:solidFill>
          <a:ln>
            <a:solidFill>
              <a:srgbClr val="008E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8" name="Rechte verbindingslijn 17"/>
          <p:cNvCxnSpPr>
            <a:endCxn id="17" idx="4"/>
          </p:cNvCxnSpPr>
          <p:nvPr/>
        </p:nvCxnSpPr>
        <p:spPr>
          <a:xfrm flipV="1">
            <a:off x="1872087" y="5136080"/>
            <a:ext cx="89291" cy="274263"/>
          </a:xfrm>
          <a:prstGeom prst="line">
            <a:avLst/>
          </a:prstGeom>
          <a:ln>
            <a:solidFill>
              <a:srgbClr val="008E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al 19"/>
          <p:cNvSpPr/>
          <p:nvPr/>
        </p:nvSpPr>
        <p:spPr>
          <a:xfrm>
            <a:off x="2610169" y="4842699"/>
            <a:ext cx="288032" cy="288032"/>
          </a:xfrm>
          <a:prstGeom prst="ellipse">
            <a:avLst/>
          </a:prstGeom>
          <a:solidFill>
            <a:srgbClr val="00B0F0">
              <a:alpha val="12941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Tekstvak 20"/>
          <p:cNvSpPr txBox="1"/>
          <p:nvPr/>
        </p:nvSpPr>
        <p:spPr>
          <a:xfrm>
            <a:off x="3977481" y="5089653"/>
            <a:ext cx="4296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B0F0"/>
                </a:solidFill>
              </a:rPr>
              <a:t>Escape-</a:t>
            </a:r>
            <a:r>
              <a:rPr lang="nl-BE" dirty="0" err="1">
                <a:solidFill>
                  <a:srgbClr val="00B0F0"/>
                </a:solidFill>
              </a:rPr>
              <a:t>sign</a:t>
            </a:r>
            <a:r>
              <a:rPr lang="nl-BE" dirty="0">
                <a:solidFill>
                  <a:srgbClr val="00B0F0"/>
                </a:solidFill>
              </a:rPr>
              <a:t> \ </a:t>
            </a:r>
            <a:r>
              <a:rPr lang="nl-BE" dirty="0" err="1">
                <a:solidFill>
                  <a:srgbClr val="00B0F0"/>
                </a:solidFill>
              </a:rPr>
              <a:t>to</a:t>
            </a:r>
            <a:r>
              <a:rPr lang="nl-BE" dirty="0">
                <a:solidFill>
                  <a:srgbClr val="00B0F0"/>
                </a:solidFill>
              </a:rPr>
              <a:t> </a:t>
            </a:r>
            <a:r>
              <a:rPr lang="nl-BE" dirty="0" err="1">
                <a:solidFill>
                  <a:srgbClr val="00B0F0"/>
                </a:solidFill>
              </a:rPr>
              <a:t>indicate</a:t>
            </a:r>
            <a:r>
              <a:rPr lang="nl-BE" dirty="0">
                <a:solidFill>
                  <a:srgbClr val="00B0F0"/>
                </a:solidFill>
              </a:rPr>
              <a:t> </a:t>
            </a:r>
            <a:r>
              <a:rPr lang="nl-BE" dirty="0" err="1">
                <a:solidFill>
                  <a:srgbClr val="00B0F0"/>
                </a:solidFill>
              </a:rPr>
              <a:t>that</a:t>
            </a:r>
            <a:r>
              <a:rPr lang="nl-BE" dirty="0">
                <a:solidFill>
                  <a:srgbClr val="00B0F0"/>
                </a:solidFill>
              </a:rPr>
              <a:t> </a:t>
            </a:r>
            <a:r>
              <a:rPr lang="nl-BE" dirty="0" err="1">
                <a:solidFill>
                  <a:srgbClr val="00B0F0"/>
                </a:solidFill>
              </a:rPr>
              <a:t>there</a:t>
            </a:r>
            <a:br>
              <a:rPr lang="nl-BE" dirty="0">
                <a:solidFill>
                  <a:srgbClr val="00B0F0"/>
                </a:solidFill>
              </a:rPr>
            </a:br>
            <a:r>
              <a:rPr lang="nl-BE" dirty="0">
                <a:solidFill>
                  <a:srgbClr val="00B0F0"/>
                </a:solidFill>
              </a:rPr>
              <a:t>must </a:t>
            </a:r>
            <a:r>
              <a:rPr lang="nl-BE" dirty="0" err="1">
                <a:solidFill>
                  <a:srgbClr val="00B0F0"/>
                </a:solidFill>
              </a:rPr>
              <a:t>be</a:t>
            </a:r>
            <a:r>
              <a:rPr lang="nl-BE" dirty="0">
                <a:solidFill>
                  <a:srgbClr val="00B0F0"/>
                </a:solidFill>
              </a:rPr>
              <a:t> </a:t>
            </a:r>
            <a:r>
              <a:rPr lang="nl-BE" dirty="0" err="1">
                <a:solidFill>
                  <a:srgbClr val="00B0F0"/>
                </a:solidFill>
              </a:rPr>
              <a:t>literally</a:t>
            </a:r>
            <a:r>
              <a:rPr lang="nl-BE" dirty="0">
                <a:solidFill>
                  <a:srgbClr val="00B0F0"/>
                </a:solidFill>
              </a:rPr>
              <a:t> a dot here</a:t>
            </a:r>
          </a:p>
        </p:txBody>
      </p:sp>
      <p:cxnSp>
        <p:nvCxnSpPr>
          <p:cNvPr id="22" name="Rechte verbindingslijn 21"/>
          <p:cNvCxnSpPr>
            <a:stCxn id="21" idx="1"/>
            <a:endCxn id="20" idx="4"/>
          </p:cNvCxnSpPr>
          <p:nvPr/>
        </p:nvCxnSpPr>
        <p:spPr>
          <a:xfrm flipH="1" flipV="1">
            <a:off x="2754185" y="5130731"/>
            <a:ext cx="1223296" cy="2820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87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6" grpId="0"/>
      <p:bldP spid="17" grpId="0" animBg="1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More accurate:</a:t>
            </a:r>
          </a:p>
          <a:p>
            <a:pPr marL="0" indent="0">
              <a:buNone/>
            </a:pPr>
            <a:endParaRPr lang="en-US" noProof="0" dirty="0"/>
          </a:p>
          <a:p>
            <a:pPr marL="109537" indent="0">
              <a:buNone/>
            </a:pPr>
            <a:r>
              <a:rPr lang="en-US" sz="3200" noProof="0" dirty="0"/>
              <a:t>[A-Za-z0-9_]+@[A-Za-z0-9_]+\.[A-Za-z0-9_]+</a:t>
            </a:r>
          </a:p>
          <a:p>
            <a:pPr marL="109537" indent="0">
              <a:buNone/>
            </a:pPr>
            <a:endParaRPr lang="en-US" sz="3200" noProof="0" dirty="0"/>
          </a:p>
          <a:p>
            <a:pPr marL="109537" indent="0">
              <a:buNone/>
            </a:pPr>
            <a:r>
              <a:rPr lang="en-US" sz="3200" noProof="0" dirty="0"/>
              <a:t>or </a:t>
            </a:r>
          </a:p>
          <a:p>
            <a:pPr marL="109537" indent="0">
              <a:buNone/>
            </a:pPr>
            <a:endParaRPr lang="en-US" sz="3200" noProof="0" dirty="0"/>
          </a:p>
          <a:p>
            <a:pPr marL="109537" indent="0">
              <a:buNone/>
            </a:pPr>
            <a:r>
              <a:rPr lang="en-US" sz="3200" noProof="0" dirty="0"/>
              <a:t>^[_a-z0-9-]+(\.[_a-z0-9-]+)*@[a-z0-9-]+(\.[a-z0-9-]+)*(\.[a-z]{2,3})$</a:t>
            </a:r>
          </a:p>
          <a:p>
            <a:pPr marL="109537" indent="0">
              <a:buNone/>
            </a:pPr>
            <a:endParaRPr lang="en-US" sz="32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regex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31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47439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9764"/>
          </a:xfrm>
        </p:spPr>
        <p:txBody>
          <a:bodyPr>
            <a:normAutofit fontScale="25000" lnSpcReduction="20000"/>
          </a:bodyPr>
          <a:lstStyle/>
          <a:p>
            <a:pPr marL="355600" lvl="1" indent="0">
              <a:buNone/>
            </a:pPr>
            <a:endParaRPr lang="en-US" sz="5000" noProof="0" dirty="0"/>
          </a:p>
          <a:p>
            <a:pPr marL="323850" lvl="1" indent="-323850">
              <a:lnSpc>
                <a:spcPct val="110000"/>
              </a:lnSpc>
              <a:buSzPct val="90000"/>
              <a:buFont typeface="Verdana" pitchFamily="34" charset="0"/>
              <a:buChar char="•"/>
            </a:pPr>
            <a:r>
              <a:rPr lang="en-US" sz="9600" noProof="0" dirty="0"/>
              <a:t>3 steps to execute query: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8000" b="1" noProof="0" dirty="0"/>
              <a:t>Prepare</a:t>
            </a:r>
            <a:r>
              <a:rPr lang="en-US" sz="8000" noProof="0" dirty="0"/>
              <a:t>: </a:t>
            </a:r>
          </a:p>
          <a:p>
            <a:pPr marL="723900" lvl="2" indent="0">
              <a:lnSpc>
                <a:spcPct val="110000"/>
              </a:lnSpc>
              <a:buSzPct val="90000"/>
              <a:buNone/>
            </a:pPr>
            <a:r>
              <a:rPr lang="en-US" sz="7800" noProof="0" dirty="0"/>
              <a:t>	Template of SQL statement where user input values are left out 	(replaced by ?) =&gt; server. </a:t>
            </a:r>
          </a:p>
          <a:p>
            <a:pPr marL="355600" lvl="1" indent="0">
              <a:lnSpc>
                <a:spcPct val="110000"/>
              </a:lnSpc>
              <a:buSzPct val="90000"/>
              <a:buNone/>
            </a:pPr>
            <a:r>
              <a:rPr lang="en-US" sz="8000" noProof="0" dirty="0"/>
              <a:t>		e.g.: "SELECT * FROM students where name LIKE ?"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8000" b="1" noProof="0" dirty="0"/>
              <a:t>Process</a:t>
            </a:r>
            <a:r>
              <a:rPr lang="en-US" sz="8000" noProof="0" dirty="0"/>
              <a:t>: </a:t>
            </a:r>
          </a:p>
          <a:p>
            <a:pPr marL="723900" lvl="2" indent="0">
              <a:lnSpc>
                <a:spcPct val="110000"/>
              </a:lnSpc>
              <a:buSzPct val="90000"/>
              <a:buNone/>
            </a:pPr>
            <a:r>
              <a:rPr lang="en-US" sz="7800" dirty="0"/>
              <a:t>	Database parses, compiles and executes query optimization on  </a:t>
            </a:r>
            <a:br>
              <a:rPr lang="en-US" sz="7800" dirty="0"/>
            </a:br>
            <a:r>
              <a:rPr lang="en-US" sz="7800" dirty="0"/>
              <a:t>   SQL statement template, and stores it without execution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8000" b="1" noProof="0" dirty="0"/>
              <a:t>Execute</a:t>
            </a:r>
            <a:r>
              <a:rPr lang="en-US" sz="8000" noProof="0" dirty="0"/>
              <a:t>: </a:t>
            </a:r>
          </a:p>
          <a:p>
            <a:pPr marL="723900" lvl="2" indent="0">
              <a:lnSpc>
                <a:spcPct val="110000"/>
              </a:lnSpc>
              <a:buSzPct val="90000"/>
              <a:buNone/>
            </a:pPr>
            <a:r>
              <a:rPr lang="en-US" sz="7800" noProof="0" dirty="0"/>
              <a:t>	later </a:t>
            </a:r>
            <a:r>
              <a:rPr lang="en-US" sz="7800" dirty="0"/>
              <a:t>=&gt; application binds values to the parameters =&gt; </a:t>
            </a:r>
            <a:r>
              <a:rPr lang="en-US" sz="7800" noProof="0" dirty="0"/>
              <a:t>execute</a:t>
            </a:r>
            <a:r>
              <a:rPr lang="en-US" sz="7800" dirty="0"/>
              <a:t>.  </a:t>
            </a:r>
            <a:br>
              <a:rPr lang="en-US" sz="7800" dirty="0"/>
            </a:br>
            <a:r>
              <a:rPr lang="en-US" sz="7800" dirty="0"/>
              <a:t> 	The same query can be executed several times with different 	values for the parameters</a:t>
            </a:r>
            <a:endParaRPr lang="en-US" sz="7800" noProof="0" dirty="0"/>
          </a:p>
          <a:p>
            <a:pPr marL="355600" lvl="1" indent="0">
              <a:buNone/>
            </a:pPr>
            <a:endParaRPr lang="en-US" sz="5000" noProof="0" dirty="0"/>
          </a:p>
          <a:p>
            <a:pPr marL="355600" lvl="1" indent="0">
              <a:buNone/>
            </a:pPr>
            <a:endParaRPr lang="en-US" sz="5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Protection against Sql injection: prepared statements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21131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9764"/>
          </a:xfrm>
        </p:spPr>
        <p:txBody>
          <a:bodyPr>
            <a:normAutofit fontScale="25000" lnSpcReduction="20000"/>
          </a:bodyPr>
          <a:lstStyle/>
          <a:p>
            <a:pPr marL="355600" lvl="1" indent="0">
              <a:buNone/>
            </a:pPr>
            <a:endParaRPr lang="en-US" sz="5000" noProof="0" dirty="0"/>
          </a:p>
          <a:p>
            <a:pPr marL="323850" lvl="1" indent="-323850">
              <a:lnSpc>
                <a:spcPct val="110000"/>
              </a:lnSpc>
              <a:buSzPct val="90000"/>
              <a:buFont typeface="Verdana" pitchFamily="34" charset="0"/>
              <a:buChar char="•"/>
            </a:pPr>
            <a:r>
              <a:rPr lang="en-US" sz="12000" noProof="0" dirty="0"/>
              <a:t>Pros: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10000" dirty="0"/>
              <a:t>Less time needed for parsing =&gt; query can be performed several times with just 1 query preparation.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10000" dirty="0"/>
              <a:t>Less data traffic: only send parameters instead of a whole query each time</a:t>
            </a:r>
          </a:p>
          <a:p>
            <a:pPr lvl="1">
              <a:lnSpc>
                <a:spcPct val="110000"/>
              </a:lnSpc>
              <a:buSzPct val="90000"/>
            </a:pPr>
            <a:r>
              <a:rPr lang="en-US" sz="10000" dirty="0"/>
              <a:t>SQL injection protection: parameters sent separately and only valid if correctly escaped! No SQL injection possible if template does not contain any external input.</a:t>
            </a:r>
            <a:endParaRPr lang="en-US" sz="5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 against Sql injection: prepared statements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45240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3242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step 3</a:t>
            </a:r>
            <a:r>
              <a:rPr lang="en-US" dirty="0">
                <a:solidFill>
                  <a:srgbClr val="608B4E"/>
                </a:solidFill>
                <a:latin typeface="Consolas" panose="020B0609020204030204" pitchFamily="49" charset="0"/>
              </a:rPr>
              <a:t>: create and execute the query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3a</a:t>
            </a:r>
            <a:r>
              <a:rPr lang="en-US" dirty="0">
                <a:solidFill>
                  <a:srgbClr val="608B4E"/>
                </a:solidFill>
                <a:latin typeface="Consolas" panose="020B0609020204030204" pitchFamily="49" charset="0"/>
              </a:rPr>
              <a:t>: create prepared statement</a:t>
            </a:r>
            <a:endParaRPr lang="en-US" noProof="0" dirty="0">
              <a:solidFill>
                <a:srgbClr val="608B4E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$query =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latin typeface="Consolas" panose="020B0609020204030204" pitchFamily="49" charset="0"/>
              </a:rPr>
              <a:t>*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students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where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name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LIKE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?"</a:t>
            </a:r>
            <a:endParaRPr lang="en-U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 = </a:t>
            </a:r>
            <a:r>
              <a:rPr lang="en-US" noProof="0" dirty="0" err="1">
                <a:latin typeface="Consolas" panose="020B0609020204030204" pitchFamily="49" charset="0"/>
              </a:rPr>
              <a:t>mysqli_prepare</a:t>
            </a:r>
            <a:r>
              <a:rPr lang="en-US" noProof="0" dirty="0">
                <a:latin typeface="Consolas" panose="020B0609020204030204" pitchFamily="49" charset="0"/>
              </a:rPr>
              <a:t>($link, $query);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//3b: bind parameters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latin typeface="Consolas" panose="020B0609020204030204" pitchFamily="49" charset="0"/>
              </a:rPr>
              <a:t> =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"%"</a:t>
            </a:r>
            <a:r>
              <a:rPr lang="en-US" noProof="0" dirty="0">
                <a:latin typeface="Consolas" panose="020B0609020204030204" pitchFamily="49" charset="0"/>
              </a:rPr>
              <a:t>.$_POST[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>
                <a:latin typeface="Consolas" panose="020B0609020204030204" pitchFamily="49" charset="0"/>
              </a:rPr>
              <a:t>].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"%"</a:t>
            </a:r>
            <a:r>
              <a:rPr lang="en-US" noProof="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mysqli_stmt_bind_param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,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"s"</a:t>
            </a:r>
            <a:r>
              <a:rPr lang="en-US" noProof="0" dirty="0">
                <a:latin typeface="Consolas" panose="020B0609020204030204" pitchFamily="49" charset="0"/>
              </a:rPr>
              <a:t>,</a:t>
            </a:r>
            <a: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//3c: execute query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mysqli_stmt_execute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//3d: bind results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mysqli_stmt_bind_result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, $</a:t>
            </a:r>
            <a:r>
              <a:rPr lang="en-US" noProof="0" dirty="0" err="1">
                <a:latin typeface="Consolas" panose="020B0609020204030204" pitchFamily="49" charset="0"/>
              </a:rPr>
              <a:t>studNo</a:t>
            </a:r>
            <a:r>
              <a:rPr lang="en-US" noProof="0" dirty="0">
                <a:latin typeface="Consolas" panose="020B0609020204030204" pitchFamily="49" charset="0"/>
              </a:rPr>
              <a:t>, $name, $</a:t>
            </a:r>
            <a:r>
              <a:rPr lang="en-US" noProof="0" dirty="0" err="1">
                <a:latin typeface="Consolas" panose="020B0609020204030204" pitchFamily="49" charset="0"/>
              </a:rPr>
              <a:t>firstname</a:t>
            </a:r>
            <a:r>
              <a:rPr lang="en-US" noProof="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latin typeface="Consolas" panose="020B0609020204030204" pitchFamily="49" charset="0"/>
              </a:rPr>
              <a:t>, $city);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Prepared statements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34</a:t>
            </a:fld>
            <a:endParaRPr lang="nl-BE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9FF8EFD3-458C-A0AC-ABAE-E6601D5DCC5B}"/>
              </a:ext>
            </a:extLst>
          </p:cNvPr>
          <p:cNvSpPr/>
          <p:nvPr/>
        </p:nvSpPr>
        <p:spPr>
          <a:xfrm>
            <a:off x="4282751" y="3330083"/>
            <a:ext cx="681135" cy="405114"/>
          </a:xfrm>
          <a:prstGeom prst="ellipse">
            <a:avLst/>
          </a:prstGeom>
          <a:solidFill>
            <a:srgbClr val="EC4B2F">
              <a:alpha val="20000"/>
            </a:srgbClr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A861DE6-5E3F-5F46-F4AC-25B59F0C4BE5}"/>
              </a:ext>
            </a:extLst>
          </p:cNvPr>
          <p:cNvSpPr txBox="1"/>
          <p:nvPr/>
        </p:nvSpPr>
        <p:spPr>
          <a:xfrm>
            <a:off x="5370062" y="3719488"/>
            <a:ext cx="3484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 err="1">
                <a:solidFill>
                  <a:srgbClr val="EC4B2F"/>
                </a:solidFill>
              </a:rPr>
              <a:t>the</a:t>
            </a:r>
            <a:r>
              <a:rPr lang="nl-BE" sz="2000" dirty="0">
                <a:solidFill>
                  <a:srgbClr val="EC4B2F"/>
                </a:solidFill>
              </a:rPr>
              <a:t> content of $</a:t>
            </a:r>
            <a:r>
              <a:rPr lang="nl-BE" sz="2000" dirty="0" err="1">
                <a:solidFill>
                  <a:srgbClr val="EC4B2F"/>
                </a:solidFill>
              </a:rPr>
              <a:t>searchName</a:t>
            </a:r>
            <a:r>
              <a:rPr lang="nl-BE" sz="2000" dirty="0">
                <a:solidFill>
                  <a:srgbClr val="EC4B2F"/>
                </a:solidFill>
              </a:rPr>
              <a:t> is a string</a:t>
            </a: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D11252CB-4ABC-748A-4674-0607E9E3DCD1}"/>
              </a:ext>
            </a:extLst>
          </p:cNvPr>
          <p:cNvCxnSpPr>
            <a:cxnSpLocks/>
          </p:cNvCxnSpPr>
          <p:nvPr/>
        </p:nvCxnSpPr>
        <p:spPr>
          <a:xfrm>
            <a:off x="4787909" y="3719488"/>
            <a:ext cx="582153" cy="233951"/>
          </a:xfrm>
          <a:prstGeom prst="straightConnector1">
            <a:avLst/>
          </a:prstGeom>
          <a:ln w="1905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94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324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step 4</a:t>
            </a:r>
            <a:r>
              <a:rPr lang="en-US" sz="1800" dirty="0">
                <a:solidFill>
                  <a:srgbClr val="608B4E"/>
                </a:solidFill>
                <a:latin typeface="Consolas" panose="020B0609020204030204" pitchFamily="49" charset="0"/>
              </a:rPr>
              <a:t>: write the results to the screen</a:t>
            </a:r>
            <a:endParaRPr lang="en-US" sz="1800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echo (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"&lt;h2&gt;Students&lt;/h2</a:t>
            </a:r>
            <a:r>
              <a:rPr lang="en-US" sz="1800" noProof="0" dirty="0">
                <a:latin typeface="Consolas" panose="020B0609020204030204" pitchFamily="49" charset="0"/>
              </a:rPr>
              <a:t>&gt;");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     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echo(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"&lt;table&gt;&lt;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&gt;id&lt;/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&gt;name&lt;/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firstname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postalCode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      city&lt;/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th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&gt;"</a:t>
            </a:r>
            <a:r>
              <a:rPr lang="en-US" sz="1800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noProof="0" dirty="0">
                <a:solidFill>
                  <a:srgbClr val="569CD6"/>
                </a:solidFill>
                <a:latin typeface="Consolas" panose="020B0609020204030204" pitchFamily="49" charset="0"/>
              </a:rPr>
              <a:t>while</a:t>
            </a:r>
            <a:r>
              <a:rPr lang="en-US" sz="1800" noProof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noProof="0" dirty="0">
                <a:latin typeface="Consolas" panose="020B0609020204030204" pitchFamily="49" charset="0"/>
              </a:rPr>
              <a:t>(</a:t>
            </a:r>
            <a:r>
              <a:rPr lang="en-US" sz="1800" noProof="0" dirty="0" err="1">
                <a:latin typeface="Consolas" panose="020B0609020204030204" pitchFamily="49" charset="0"/>
              </a:rPr>
              <a:t>mysqli_stmt_fetch</a:t>
            </a:r>
            <a:r>
              <a:rPr lang="en-US" sz="1800" noProof="0" dirty="0">
                <a:latin typeface="Consolas" panose="020B0609020204030204" pitchFamily="49" charset="0"/>
              </a:rPr>
              <a:t>($</a:t>
            </a:r>
            <a:r>
              <a:rPr lang="en-US" sz="1800" noProof="0" dirty="0" err="1">
                <a:latin typeface="Consolas" panose="020B0609020204030204" pitchFamily="49" charset="0"/>
              </a:rPr>
              <a:t>stmt</a:t>
            </a:r>
            <a:r>
              <a:rPr lang="en-US" sz="1800" noProof="0" dirty="0"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   echo(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"&lt;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&gt;&lt;td&gt;$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studNo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&lt;/td&gt;&lt;td&gt;$name&lt;/td&gt;&lt;td&gt;$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firstname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&lt;/td&gt;&lt;td&gt;$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postalCode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&lt;/td&gt;</a:t>
            </a:r>
          </a:p>
          <a:p>
            <a:pPr marL="0" indent="0">
              <a:buNone/>
            </a:pP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&lt;td&gt;$city&lt;/td&gt;&lt;/</a:t>
            </a:r>
            <a:r>
              <a:rPr lang="en-US" sz="18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&gt;"</a:t>
            </a:r>
            <a:r>
              <a:rPr lang="en-US" sz="1800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noProof="0" dirty="0">
                <a:latin typeface="Consolas" panose="020B0609020204030204" pitchFamily="49" charset="0"/>
              </a:rPr>
              <a:t>echo(</a:t>
            </a:r>
            <a:r>
              <a:rPr lang="en-US" sz="18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"&lt;/table&gt;"</a:t>
            </a:r>
            <a:r>
              <a:rPr lang="en-US" sz="1800" noProof="0" dirty="0">
                <a:latin typeface="Consolas" panose="020B0609020204030204" pitchFamily="49" charset="0"/>
              </a:rPr>
              <a:t>);</a:t>
            </a:r>
            <a:r>
              <a:rPr lang="en-US" sz="1800" noProof="0" dirty="0">
                <a:solidFill>
                  <a:srgbClr val="608B4E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US" sz="1800" noProof="0" dirty="0">
              <a:solidFill>
                <a:srgbClr val="608B4E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step 5</a:t>
            </a:r>
            <a:r>
              <a:rPr lang="en-US" sz="1800" dirty="0">
                <a:solidFill>
                  <a:srgbClr val="608B4E"/>
                </a:solidFill>
                <a:latin typeface="Consolas" panose="020B0609020204030204" pitchFamily="49" charset="0"/>
              </a:rPr>
              <a:t>: closing the connection to the database</a:t>
            </a:r>
            <a:endParaRPr lang="en-US" sz="1800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//5a: close statement</a:t>
            </a:r>
            <a:endParaRPr lang="en-US" sz="1800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onsolas" panose="020B0609020204030204" pitchFamily="49" charset="0"/>
              </a:rPr>
              <a:t>mysqli_stmt_close</a:t>
            </a:r>
            <a:r>
              <a:rPr lang="en-US" sz="1800" noProof="0" dirty="0">
                <a:latin typeface="Consolas" panose="020B0609020204030204" pitchFamily="49" charset="0"/>
              </a:rPr>
              <a:t>($</a:t>
            </a:r>
            <a:r>
              <a:rPr lang="en-US" sz="1800" noProof="0" dirty="0" err="1">
                <a:latin typeface="Consolas" panose="020B0609020204030204" pitchFamily="49" charset="0"/>
              </a:rPr>
              <a:t>stmt</a:t>
            </a:r>
            <a:r>
              <a:rPr lang="en-US" sz="1800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//5b: close connection</a:t>
            </a:r>
            <a:endParaRPr lang="en-US" sz="1800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onsolas" panose="020B0609020204030204" pitchFamily="49" charset="0"/>
              </a:rPr>
              <a:t>mysqli_close</a:t>
            </a:r>
            <a:r>
              <a:rPr lang="en-US" sz="1800" noProof="0" dirty="0">
                <a:latin typeface="Consolas" panose="020B0609020204030204" pitchFamily="49" charset="0"/>
              </a:rPr>
              <a:t>($link);</a:t>
            </a:r>
          </a:p>
          <a:p>
            <a:pPr marL="0" indent="0">
              <a:buNone/>
            </a:pPr>
            <a:endParaRPr lang="en-US" sz="18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onsolas" panose="020B0609020204030204" pitchFamily="49" charset="0"/>
            </a:endParaRP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Prepared statements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35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6539593" y="4939392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hlinkClick r:id="rId2"/>
              </a:rPr>
              <a:t>example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01934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1999"/>
            <a:ext cx="9144000" cy="483242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step 3</a:t>
            </a:r>
            <a:r>
              <a:rPr lang="en-US" dirty="0">
                <a:solidFill>
                  <a:srgbClr val="608B4E"/>
                </a:solidFill>
                <a:latin typeface="Consolas" panose="020B0609020204030204" pitchFamily="49" charset="0"/>
              </a:rPr>
              <a:t>: create and execute the query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 3a</a:t>
            </a:r>
            <a:r>
              <a:rPr lang="en-US" dirty="0">
                <a:solidFill>
                  <a:srgbClr val="608B4E"/>
                </a:solidFill>
                <a:latin typeface="Consolas" panose="020B0609020204030204" pitchFamily="49" charset="0"/>
              </a:rPr>
              <a:t>: create prepared statement</a:t>
            </a:r>
            <a:endParaRPr lang="en-US" noProof="0" dirty="0">
              <a:solidFill>
                <a:srgbClr val="608B4E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$query =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SELECT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latin typeface="Consolas" panose="020B0609020204030204" pitchFamily="49" charset="0"/>
              </a:rPr>
              <a:t>*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students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where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name </a:t>
            </a:r>
            <a:r>
              <a:rPr lang="en-US" noProof="0" dirty="0">
                <a:solidFill>
                  <a:srgbClr val="569CD6"/>
                </a:solidFill>
                <a:latin typeface="Consolas" panose="020B0609020204030204" pitchFamily="49" charset="0"/>
              </a:rPr>
              <a:t>LIKE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?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b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         </a:t>
            </a:r>
            <a:r>
              <a:rPr lang="en-US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 ?"</a:t>
            </a:r>
            <a:endParaRPr lang="en-US" noProof="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 = </a:t>
            </a:r>
            <a:r>
              <a:rPr lang="en-US" noProof="0" dirty="0" err="1">
                <a:latin typeface="Consolas" panose="020B0609020204030204" pitchFamily="49" charset="0"/>
              </a:rPr>
              <a:t>mysqli_prepare</a:t>
            </a:r>
            <a:r>
              <a:rPr lang="en-US" noProof="0" dirty="0">
                <a:latin typeface="Consolas" panose="020B0609020204030204" pitchFamily="49" charset="0"/>
              </a:rPr>
              <a:t>($link, $query);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//3b: bind parameters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latin typeface="Consolas" panose="020B0609020204030204" pitchFamily="49" charset="0"/>
              </a:rPr>
              <a:t> =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"%"</a:t>
            </a:r>
            <a:r>
              <a:rPr lang="en-US" noProof="0" dirty="0">
                <a:latin typeface="Consolas" panose="020B0609020204030204" pitchFamily="49" charset="0"/>
              </a:rPr>
              <a:t>.$_POST[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>
                <a:latin typeface="Consolas" panose="020B0609020204030204" pitchFamily="49" charset="0"/>
              </a:rPr>
              <a:t>].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"%"</a:t>
            </a:r>
            <a:r>
              <a:rPr lang="en-US" noProof="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latin typeface="Consolas" panose="020B0609020204030204" pitchFamily="49" charset="0"/>
              </a:rPr>
              <a:t> = $_POST["</a:t>
            </a:r>
            <a:r>
              <a:rPr lang="en-US" noProof="0" dirty="0" err="1"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latin typeface="Consolas" panose="020B0609020204030204" pitchFamily="49" charset="0"/>
              </a:rPr>
              <a:t>"];</a:t>
            </a: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mysqli_stmt_bind_param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, 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si</a:t>
            </a:r>
            <a:r>
              <a:rPr lang="en-US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noProof="0" dirty="0">
                <a:latin typeface="Consolas" panose="020B0609020204030204" pitchFamily="49" charset="0"/>
              </a:rPr>
              <a:t>,</a:t>
            </a:r>
            <a: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searchName</a:t>
            </a:r>
            <a:r>
              <a:rPr lang="en-US" noProof="0" dirty="0">
                <a:latin typeface="Consolas" panose="020B0609020204030204" pitchFamily="49" charset="0"/>
              </a:rPr>
              <a:t>, $</a:t>
            </a:r>
            <a:r>
              <a:rPr lang="en-US" noProof="0" dirty="0" err="1"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//3c: execute query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mysqli_stmt_execute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US" noProof="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noProof="0" dirty="0">
                <a:solidFill>
                  <a:srgbClr val="608B4E"/>
                </a:solidFill>
                <a:latin typeface="Consolas" panose="020B0609020204030204" pitchFamily="49" charset="0"/>
              </a:rPr>
              <a:t>//3d: bind results</a:t>
            </a:r>
            <a:endParaRPr lang="en-US" noProof="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noProof="0" dirty="0" err="1">
                <a:latin typeface="Consolas" panose="020B0609020204030204" pitchFamily="49" charset="0"/>
              </a:rPr>
              <a:t>mysqli_stmt_bind_result</a:t>
            </a:r>
            <a:r>
              <a:rPr lang="en-US" noProof="0" dirty="0">
                <a:latin typeface="Consolas" panose="020B0609020204030204" pitchFamily="49" charset="0"/>
              </a:rPr>
              <a:t>($</a:t>
            </a:r>
            <a:r>
              <a:rPr lang="en-US" noProof="0" dirty="0" err="1">
                <a:latin typeface="Consolas" panose="020B0609020204030204" pitchFamily="49" charset="0"/>
              </a:rPr>
              <a:t>stmt</a:t>
            </a:r>
            <a:r>
              <a:rPr lang="en-US" noProof="0" dirty="0">
                <a:latin typeface="Consolas" panose="020B0609020204030204" pitchFamily="49" charset="0"/>
              </a:rPr>
              <a:t>, $</a:t>
            </a:r>
            <a:r>
              <a:rPr lang="en-US" noProof="0" dirty="0" err="1">
                <a:latin typeface="Consolas" panose="020B0609020204030204" pitchFamily="49" charset="0"/>
              </a:rPr>
              <a:t>studNo</a:t>
            </a:r>
            <a:r>
              <a:rPr lang="en-US" noProof="0" dirty="0">
                <a:latin typeface="Consolas" panose="020B0609020204030204" pitchFamily="49" charset="0"/>
              </a:rPr>
              <a:t>, $name, $</a:t>
            </a:r>
            <a:r>
              <a:rPr lang="en-US" noProof="0" dirty="0" err="1">
                <a:latin typeface="Consolas" panose="020B0609020204030204" pitchFamily="49" charset="0"/>
              </a:rPr>
              <a:t>firstname</a:t>
            </a:r>
            <a:r>
              <a:rPr lang="en-US" noProof="0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noProof="0" dirty="0">
                <a:latin typeface="Consolas" panose="020B0609020204030204" pitchFamily="49" charset="0"/>
              </a:rPr>
              <a:t>$</a:t>
            </a:r>
            <a:r>
              <a:rPr lang="en-US" noProof="0" dirty="0" err="1">
                <a:latin typeface="Consolas" panose="020B0609020204030204" pitchFamily="49" charset="0"/>
              </a:rPr>
              <a:t>postalCode</a:t>
            </a:r>
            <a:r>
              <a:rPr lang="en-US" noProof="0" dirty="0">
                <a:latin typeface="Consolas" panose="020B0609020204030204" pitchFamily="49" charset="0"/>
              </a:rPr>
              <a:t>, $city);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Prepared statements =&gt; more parameters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9FF8EFD3-458C-A0AC-ABAE-E6601D5DCC5B}"/>
              </a:ext>
            </a:extLst>
          </p:cNvPr>
          <p:cNvSpPr/>
          <p:nvPr/>
        </p:nvSpPr>
        <p:spPr>
          <a:xfrm>
            <a:off x="3909526" y="3568209"/>
            <a:ext cx="681135" cy="405114"/>
          </a:xfrm>
          <a:prstGeom prst="ellipse">
            <a:avLst/>
          </a:prstGeom>
          <a:solidFill>
            <a:srgbClr val="EC4B2F">
              <a:alpha val="20000"/>
            </a:srgbClr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A861DE6-5E3F-5F46-F4AC-25B59F0C4BE5}"/>
              </a:ext>
            </a:extLst>
          </p:cNvPr>
          <p:cNvSpPr txBox="1"/>
          <p:nvPr/>
        </p:nvSpPr>
        <p:spPr>
          <a:xfrm>
            <a:off x="4299584" y="4270985"/>
            <a:ext cx="4256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dirty="0">
                <a:solidFill>
                  <a:srgbClr val="EC4B2F"/>
                </a:solidFill>
              </a:rPr>
              <a:t>The first ? </a:t>
            </a:r>
            <a:r>
              <a:rPr lang="nl-BE" sz="2000" dirty="0" err="1">
                <a:solidFill>
                  <a:srgbClr val="EC4B2F"/>
                </a:solidFill>
              </a:rPr>
              <a:t>represents</a:t>
            </a:r>
            <a:r>
              <a:rPr lang="nl-BE" sz="2000" dirty="0">
                <a:solidFill>
                  <a:srgbClr val="EC4B2F"/>
                </a:solidFill>
              </a:rPr>
              <a:t> a string, </a:t>
            </a:r>
            <a:r>
              <a:rPr lang="nl-BE" sz="2000" dirty="0" err="1">
                <a:solidFill>
                  <a:srgbClr val="EC4B2F"/>
                </a:solidFill>
              </a:rPr>
              <a:t>the</a:t>
            </a:r>
            <a:r>
              <a:rPr lang="nl-BE" sz="2000" dirty="0">
                <a:solidFill>
                  <a:srgbClr val="EC4B2F"/>
                </a:solidFill>
              </a:rPr>
              <a:t> second ? an int</a:t>
            </a: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D11252CB-4ABC-748A-4674-0607E9E3DCD1}"/>
              </a:ext>
            </a:extLst>
          </p:cNvPr>
          <p:cNvCxnSpPr>
            <a:cxnSpLocks/>
          </p:cNvCxnSpPr>
          <p:nvPr/>
        </p:nvCxnSpPr>
        <p:spPr>
          <a:xfrm>
            <a:off x="4299584" y="3982338"/>
            <a:ext cx="582153" cy="233951"/>
          </a:xfrm>
          <a:prstGeom prst="straightConnector1">
            <a:avLst/>
          </a:prstGeom>
          <a:ln w="19050">
            <a:solidFill>
              <a:srgbClr val="EC4B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41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Needed to prevent HTLM injection!</a:t>
            </a:r>
          </a:p>
          <a:p>
            <a:r>
              <a:rPr lang="en-US" noProof="0" dirty="0"/>
              <a:t>example:</a:t>
            </a:r>
          </a:p>
          <a:p>
            <a:pPr marL="0" indent="0">
              <a:buNone/>
            </a:pPr>
            <a:r>
              <a:rPr lang="en-US" noProof="0" dirty="0"/>
              <a:t>  </a:t>
            </a:r>
            <a:r>
              <a:rPr lang="en-US" sz="2000" noProof="0" dirty="0">
                <a:latin typeface="Consolas" panose="020B0609020204030204" pitchFamily="49" charset="0"/>
              </a:rPr>
              <a:t>echo(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"&lt;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	&lt;td&gt;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htmlspecialchars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($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studNo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)&lt;/td&gt;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	&lt;td&gt;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htmlspecialchars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($name)&lt;/td&gt;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	&lt;td&gt;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htmlspecialchars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($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firstname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)&lt;/td&gt;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	&lt;td&gt;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htmlspecialchars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($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postalCode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)&lt;/td&gt;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	&lt;td&gt;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htmlspecialchars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($city)&lt;/td&gt;</a:t>
            </a:r>
          </a:p>
          <a:p>
            <a:pPr marL="0" indent="0">
              <a:buNone/>
            </a:pP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	&lt;/</a:t>
            </a:r>
            <a:r>
              <a:rPr lang="en-US" sz="2000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tr</a:t>
            </a:r>
            <a:r>
              <a:rPr lang="en-US" sz="2000" noProof="0" dirty="0">
                <a:solidFill>
                  <a:srgbClr val="CE9178"/>
                </a:solidFill>
                <a:latin typeface="Consolas" panose="020B0609020204030204" pitchFamily="49" charset="0"/>
              </a:rPr>
              <a:t>&gt;"</a:t>
            </a:r>
            <a:r>
              <a:rPr lang="en-US" sz="2000" noProof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Use this to clean up all </a:t>
            </a:r>
            <a:r>
              <a:rPr lang="en-US" noProof="0" dirty="0">
                <a:solidFill>
                  <a:srgbClr val="FF0000"/>
                </a:solidFill>
              </a:rPr>
              <a:t>output</a:t>
            </a:r>
            <a:r>
              <a:rPr lang="en-US" noProof="0" dirty="0"/>
              <a:t> from the database!!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Htmlspecialchars</a:t>
            </a:r>
            <a:r>
              <a:rPr lang="en-US" noProof="0" dirty="0"/>
              <a:t>()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7287632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homas More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00A0A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Thomas More" id="{1332566A-3F18-49D1-80A8-16117EBF29A3}" vid="{6C0FC004-971C-448B-B489-975134365DC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Thomas More</Template>
  <TotalTime>21104</TotalTime>
  <Words>2420</Words>
  <Application>Microsoft Office PowerPoint</Application>
  <PresentationFormat>Diavoorstelling (4:3)</PresentationFormat>
  <Paragraphs>372</Paragraphs>
  <Slides>37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37</vt:i4>
      </vt:variant>
    </vt:vector>
  </HeadingPairs>
  <TitlesOfParts>
    <vt:vector size="45" baseType="lpstr">
      <vt:lpstr>Arial</vt:lpstr>
      <vt:lpstr>Calibri</vt:lpstr>
      <vt:lpstr>Consolas</vt:lpstr>
      <vt:lpstr>Courier New</vt:lpstr>
      <vt:lpstr>Symbol</vt:lpstr>
      <vt:lpstr>Trebuchet MS</vt:lpstr>
      <vt:lpstr>Verdana</vt:lpstr>
      <vt:lpstr>PowerPoint Thomas More</vt:lpstr>
      <vt:lpstr>databases</vt:lpstr>
      <vt:lpstr>connection PHP - MySQL</vt:lpstr>
      <vt:lpstr>method</vt:lpstr>
      <vt:lpstr>Mysql vs mysQli</vt:lpstr>
      <vt:lpstr>Create and manage users</vt:lpstr>
      <vt:lpstr>Create and manage users</vt:lpstr>
      <vt:lpstr>Create and manage users</vt:lpstr>
      <vt:lpstr>Create and manage users</vt:lpstr>
      <vt:lpstr>step1: establishing connection</vt:lpstr>
      <vt:lpstr>step 2: select database</vt:lpstr>
      <vt:lpstr>step 3: create and execute query</vt:lpstr>
      <vt:lpstr>step 4: write results to screen</vt:lpstr>
      <vt:lpstr>step 5: close connection</vt:lpstr>
      <vt:lpstr>example: enter search term</vt:lpstr>
      <vt:lpstr>example: form</vt:lpstr>
      <vt:lpstr>example: find in database</vt:lpstr>
      <vt:lpstr>example: find in database</vt:lpstr>
      <vt:lpstr>example: find in database</vt:lpstr>
      <vt:lpstr>example: execute query</vt:lpstr>
      <vt:lpstr>example: process data</vt:lpstr>
      <vt:lpstr>example: close link</vt:lpstr>
      <vt:lpstr>Write data to database</vt:lpstr>
      <vt:lpstr>Sql injection!!</vt:lpstr>
      <vt:lpstr>Sql injection: example</vt:lpstr>
      <vt:lpstr>Sql injection: example</vt:lpstr>
      <vt:lpstr>SQL INJECTION: EXAMPLE</vt:lpstr>
      <vt:lpstr>Protection against Sql injection</vt:lpstr>
      <vt:lpstr>Protection against Sql injection</vt:lpstr>
      <vt:lpstr>Protection against Sql injection</vt:lpstr>
      <vt:lpstr>REGEX </vt:lpstr>
      <vt:lpstr>regex</vt:lpstr>
      <vt:lpstr>Protection against Sql injection: prepared statements</vt:lpstr>
      <vt:lpstr>Protection against Sql injection: prepared statements</vt:lpstr>
      <vt:lpstr>Prepared statements</vt:lpstr>
      <vt:lpstr>Prepared statements</vt:lpstr>
      <vt:lpstr>Prepared statements =&gt; more parameters</vt:lpstr>
      <vt:lpstr>Htmlspecialchars()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Sofie Beerens</dc:creator>
  <cp:lastModifiedBy>Sofie Beerens</cp:lastModifiedBy>
  <cp:revision>458</cp:revision>
  <dcterms:created xsi:type="dcterms:W3CDTF">2015-01-22T07:26:17Z</dcterms:created>
  <dcterms:modified xsi:type="dcterms:W3CDTF">2024-10-22T07:15:24Z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2024-10-22T07:08:18Z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76219100-7d0d-4df3-8683-908e95866ad9</vt:lpwstr>
  </property>
  <property fmtid="{D5CDD505-2E9C-101B-9397-08002B2CF9AE}" pid="8" name="MSIP_Label_c337be75-dfbb-4261-9834-ac247c7dde13_ContentBits">
    <vt:lpwstr>0</vt:lpwstr>
  </property>
</Properties>
</file>