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293" r:id="rId4"/>
    <p:sldId id="259" r:id="rId5"/>
    <p:sldId id="294" r:id="rId6"/>
    <p:sldId id="260" r:id="rId7"/>
    <p:sldId id="296" r:id="rId8"/>
    <p:sldId id="295" r:id="rId9"/>
    <p:sldId id="301" r:id="rId10"/>
    <p:sldId id="297" r:id="rId11"/>
    <p:sldId id="298" r:id="rId12"/>
    <p:sldId id="302" r:id="rId13"/>
    <p:sldId id="299" r:id="rId14"/>
    <p:sldId id="300" r:id="rId15"/>
    <p:sldId id="310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9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20" r:id="rId33"/>
    <p:sldId id="321" r:id="rId34"/>
    <p:sldId id="322" r:id="rId35"/>
    <p:sldId id="323" r:id="rId36"/>
    <p:sldId id="324" r:id="rId37"/>
    <p:sldId id="325" r:id="rId38"/>
    <p:sldId id="327" r:id="rId39"/>
    <p:sldId id="328" r:id="rId40"/>
    <p:sldId id="326" r:id="rId41"/>
    <p:sldId id="329" r:id="rId42"/>
  </p:sldIdLst>
  <p:sldSz cx="9144000" cy="6858000" type="screen4x3"/>
  <p:notesSz cx="7010400" cy="92964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  <a:srgbClr val="00A0AE"/>
    <a:srgbClr val="EC4B2F"/>
    <a:srgbClr val="000000"/>
    <a:srgbClr val="0303D7"/>
    <a:srgbClr val="3048A0"/>
    <a:srgbClr val="3E6A92"/>
    <a:srgbClr val="DC97FF"/>
    <a:srgbClr val="993300"/>
    <a:srgbClr val="004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1421" autoAdjust="0"/>
  </p:normalViewPr>
  <p:slideViewPr>
    <p:cSldViewPr snapToGrid="0">
      <p:cViewPr varScale="1">
        <p:scale>
          <a:sx n="75" d="100"/>
          <a:sy n="75" d="100"/>
        </p:scale>
        <p:origin x="109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772F1-7711-4C39-A47E-5479F4D6C06D}" type="datetimeFigureOut">
              <a:rPr lang="nl-BE" smtClean="0"/>
              <a:t>21/11/2023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B222E-4FF6-4DF4-B2D7-001943EBE33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5308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Asynchronous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means that when you send a request, you have to wait for the result to come, but meanwhile, you can do whatever you want.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response may not happen immediately, so use a function that waits for the result and reacts when it is in.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asynchronous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behaviour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can improve the user experience, because the browser no longer seems frozen. The user can continue to work, while the server is running the previous request in the background.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JavaScript</a:t>
            </a: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Javascript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used to send the request to the server. JavaScript is also used when the result has arrived to modify the current page.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data you receive from the server will often be a piece of XML that you can easily manipulate with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Javascript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In fact, the response data can be anything you want, and as big as you want.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B222E-4FF6-4DF4-B2D7-001943EBE333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0246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$.get(), $.post()</a:t>
            </a:r>
            <a:r>
              <a:rPr lang="en-US" baseline="0" dirty="0"/>
              <a:t> and .load() all use $.ajax()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B222E-4FF6-4DF4-B2D7-001943EBE333}" type="slidenum">
              <a:rPr lang="nl-BE" smtClean="0"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6751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| Basic">
    <p:bg bwMode="gray">
      <p:bgPr>
        <a:solidFill>
          <a:srgbClr val="00A0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00"/>
            <a:ext cx="9144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57192"/>
            <a:ext cx="9144000" cy="1800000"/>
          </a:xfrm>
          <a:noFill/>
        </p:spPr>
        <p:txBody>
          <a:bodyPr wrap="square" lIns="720000" tIns="180000" rIns="720000" bIns="540000">
            <a:noAutofit/>
          </a:bodyPr>
          <a:lstStyle>
            <a:lvl1pPr marL="0" indent="0" algn="ctr">
              <a:buNone/>
              <a:defRPr sz="3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154" name="Title 153"/>
          <p:cNvSpPr>
            <a:spLocks noGrp="1"/>
          </p:cNvSpPr>
          <p:nvPr>
            <p:ph type="title"/>
          </p:nvPr>
        </p:nvSpPr>
        <p:spPr>
          <a:xfrm>
            <a:off x="0" y="1556992"/>
            <a:ext cx="9144000" cy="1800000"/>
          </a:xfrm>
          <a:noFill/>
        </p:spPr>
        <p:txBody>
          <a:bodyPr lIns="720000" tIns="540000" rIns="720000" bIns="180000" anchor="b" anchorCtr="0">
            <a:noAutofit/>
          </a:bodyPr>
          <a:lstStyle>
            <a:lvl1pPr algn="ctr">
              <a:lnSpc>
                <a:spcPct val="90000"/>
              </a:lnSpc>
              <a:defRPr sz="38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solidFill>
            <a:srgbClr val="EC4B2F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BE" dirty="0"/>
              <a:t>Applicaties ICT – Sofie Beerens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solidFill>
            <a:srgbClr val="00A0AE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0" name="Picture 9" descr="TM_logo_vignet_pp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0000" y="360000"/>
            <a:ext cx="2157984" cy="1155192"/>
          </a:xfrm>
          <a:prstGeom prst="rect">
            <a:avLst/>
          </a:prstGeom>
        </p:spPr>
      </p:pic>
      <p:sp>
        <p:nvSpPr>
          <p:cNvPr id="14" name="Date Placeholder 13"/>
          <p:cNvSpPr>
            <a:spLocks noGrp="1"/>
          </p:cNvSpPr>
          <p:nvPr>
            <p:ph type="dt" sz="half" idx="13"/>
          </p:nvPr>
        </p:nvSpPr>
        <p:spPr>
          <a:xfrm>
            <a:off x="755576" y="6570000"/>
            <a:ext cx="990706" cy="200055"/>
          </a:xfrm>
          <a:solidFill>
            <a:schemeClr val="tx1"/>
          </a:solidFill>
        </p:spPr>
        <p:txBody>
          <a:bodyPr/>
          <a:lstStyle>
            <a:lvl1pPr>
              <a:defRPr sz="1300">
                <a:solidFill>
                  <a:srgbClr val="00A0AE"/>
                </a:solidFill>
              </a:defRPr>
            </a:lvl1pPr>
          </a:lstStyle>
          <a:p>
            <a:pPr algn="l"/>
            <a:endParaRPr lang="nl-BE" dirty="0"/>
          </a:p>
        </p:txBody>
      </p:sp>
      <p:sp>
        <p:nvSpPr>
          <p:cNvPr id="20" name="Rectangle 19"/>
          <p:cNvSpPr/>
          <p:nvPr/>
        </p:nvSpPr>
        <p:spPr>
          <a:xfrm>
            <a:off x="0" y="5661248"/>
            <a:ext cx="9144000" cy="288032"/>
          </a:xfrm>
          <a:prstGeom prst="rect">
            <a:avLst/>
          </a:prstGeom>
          <a:solidFill>
            <a:srgbClr val="00A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image_preview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32000" y="6192000"/>
            <a:ext cx="1136842" cy="432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428000"/>
          </a:xfrm>
        </p:spPr>
        <p:txBody>
          <a:bodyPr bIns="144000"/>
          <a:lstStyle>
            <a:lvl1pPr marL="323850" indent="-323850">
              <a:spcBef>
                <a:spcPts val="400"/>
              </a:spcBef>
              <a:spcAft>
                <a:spcPts val="400"/>
              </a:spcAft>
              <a:buClrTx/>
              <a:defRPr/>
            </a:lvl1pPr>
            <a:lvl2pPr marL="723900" indent="-368300">
              <a:spcBef>
                <a:spcPts val="400"/>
              </a:spcBef>
              <a:spcAft>
                <a:spcPts val="400"/>
              </a:spcAft>
              <a:buClrTx/>
              <a:defRPr sz="2500"/>
            </a:lvl2pPr>
            <a:lvl3pPr marL="982663" indent="-258763">
              <a:spcBef>
                <a:spcPts val="400"/>
              </a:spcBef>
              <a:spcAft>
                <a:spcPts val="400"/>
              </a:spcAft>
              <a:buClrTx/>
              <a:defRPr sz="2300"/>
            </a:lvl3pPr>
            <a:lvl4pPr marL="1255713" indent="-273050">
              <a:spcBef>
                <a:spcPts val="400"/>
              </a:spcBef>
              <a:spcAft>
                <a:spcPts val="400"/>
              </a:spcAft>
              <a:buClrTx/>
              <a:defRPr sz="2000"/>
            </a:lvl4pPr>
            <a:lvl5pPr marL="1609725" indent="-258763">
              <a:spcBef>
                <a:spcPts val="600"/>
              </a:spcBef>
              <a:spcAft>
                <a:spcPts val="600"/>
              </a:spcAft>
              <a:defRPr sz="1700"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00A0A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2" name="Picture 11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l"/>
            <a:endParaRPr lang="nl-B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34000"/>
          </a:xfrm>
        </p:spPr>
        <p:txBody>
          <a:bodyPr bIns="144000" numCol="2" spcCol="360000" anchor="ctr" anchorCtr="0"/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1" name="Picture 10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|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4428000" cy="1097992"/>
          </a:xfrm>
        </p:spPr>
        <p:txBody>
          <a:bodyPr lIns="252000" tIns="252000" r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285992"/>
            <a:ext cx="4428000" cy="3600000"/>
          </a:xfrm>
        </p:spPr>
        <p:txBody>
          <a:bodyPr lIns="252000" tIns="0" rIns="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6032" y="1152000"/>
            <a:ext cx="4428000" cy="1097992"/>
          </a:xfrm>
        </p:spPr>
        <p:txBody>
          <a:bodyPr lIns="0" tIns="252000" rIns="252000" bIns="0" anchor="t" anchorCtr="0">
            <a:norm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6032" y="2285992"/>
            <a:ext cx="4428000" cy="3600000"/>
          </a:xfrm>
        </p:spPr>
        <p:txBody>
          <a:bodyPr lIns="0" tIns="0" rIns="25200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4" name="Picture 13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7620" y="1152000"/>
            <a:ext cx="5072098" cy="4734000"/>
          </a:xfrm>
        </p:spPr>
        <p:txBody>
          <a:bodyPr lIns="0" rIns="0" bIns="144000"/>
          <a:lstStyle>
            <a:lvl2pPr algn="l">
              <a:defRPr/>
            </a:lvl2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50C6DD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87"/>
          <p:cNvSpPr>
            <a:spLocks noGrp="1"/>
          </p:cNvSpPr>
          <p:nvPr>
            <p:ph type="pic" sz="quarter" idx="10"/>
          </p:nvPr>
        </p:nvSpPr>
        <p:spPr>
          <a:xfrm>
            <a:off x="180000" y="1152000"/>
            <a:ext cx="3428992" cy="4734000"/>
          </a:xfrm>
        </p:spPr>
        <p:txBody>
          <a:bodyPr>
            <a:normAutofit/>
          </a:bodyPr>
          <a:lstStyle>
            <a:lvl1pPr>
              <a:buNone/>
              <a:defRPr sz="1000"/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2" name="Picture 11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>
            <a:lvl1pPr>
              <a:buClrTx/>
              <a:defRPr>
                <a:solidFill>
                  <a:srgbClr val="000000"/>
                </a:solidFill>
              </a:defRPr>
            </a:lvl1pPr>
            <a:lvl2pPr>
              <a:buClrTx/>
              <a:defRPr>
                <a:solidFill>
                  <a:srgbClr val="000000"/>
                </a:solidFill>
              </a:defRPr>
            </a:lvl2pPr>
            <a:lvl3pPr>
              <a:buClrTx/>
              <a:defRPr>
                <a:solidFill>
                  <a:srgbClr val="000000"/>
                </a:solidFill>
              </a:defRPr>
            </a:lvl3pPr>
            <a:lvl4pPr>
              <a:buClrTx/>
              <a:defRPr>
                <a:solidFill>
                  <a:srgbClr val="000000"/>
                </a:solidFill>
              </a:defRPr>
            </a:lvl4pPr>
            <a:lvl5pPr>
              <a:buClrTx/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/>
          <a:p>
            <a:r>
              <a:rPr lang="nl-NL" dirty="0"/>
              <a:t>Klik op het pictogram als u een afbeelding wilt toevoegen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datum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4CCFC-10E0-4322-A88D-A0487723354C}" type="datetimeFigureOut">
              <a:rPr lang="nl-NL"/>
              <a:pPr>
                <a:defRPr/>
              </a:pPr>
              <a:t>21-11-2023</a:t>
            </a:fld>
            <a:endParaRPr lang="nl-NL"/>
          </a:p>
        </p:txBody>
      </p:sp>
      <p:sp>
        <p:nvSpPr>
          <p:cNvPr id="5" name="Tijdelijke aanduiding voor voettekst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4F1FD-C1CD-4BA4-9301-2E6C77AFA268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394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24"/>
            <a:ext cx="9144000" cy="900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5576" y="6084000"/>
            <a:ext cx="4032424" cy="432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anchor="ctr" anchorCtr="0">
            <a:noAutofit/>
          </a:bodyPr>
          <a:lstStyle>
            <a:lvl1pPr algn="l">
              <a:lnSpc>
                <a:spcPct val="90000"/>
              </a:lnSpc>
              <a:defRPr sz="1500">
                <a:solidFill>
                  <a:srgbClr val="00A0AE"/>
                </a:solidFill>
                <a:latin typeface="Trebuchet MS" pitchFamily="34" charset="0"/>
              </a:defRPr>
            </a:lvl1pPr>
          </a:lstStyle>
          <a:p>
            <a:endParaRPr lang="nl-BE" dirty="0"/>
          </a:p>
        </p:txBody>
      </p:sp>
      <p:sp>
        <p:nvSpPr>
          <p:cNvPr id="86" name="Slide Number Placeholder 85"/>
          <p:cNvSpPr>
            <a:spLocks noGrp="1"/>
          </p:cNvSpPr>
          <p:nvPr>
            <p:ph type="sldNum" sz="quarter" idx="4"/>
          </p:nvPr>
        </p:nvSpPr>
        <p:spPr>
          <a:xfrm>
            <a:off x="360000" y="6084000"/>
            <a:ext cx="360000" cy="667148"/>
          </a:xfrm>
          <a:prstGeom prst="rect">
            <a:avLst/>
          </a:prstGeom>
          <a:solidFill>
            <a:srgbClr val="00A0AE"/>
          </a:solidFill>
        </p:spPr>
        <p:txBody>
          <a:bodyPr vert="horz" wrap="none" lIns="0" tIns="108000" rIns="0" bIns="0" rtlCol="0" anchor="ctr" anchorCtr="0">
            <a:noAutofit/>
          </a:bodyPr>
          <a:lstStyle>
            <a:lvl1pPr algn="ctr">
              <a:defRPr sz="2000" b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2984"/>
          </a:xfrm>
          <a:prstGeom prst="rect">
            <a:avLst/>
          </a:prstGeom>
          <a:ln w="0">
            <a:noFill/>
          </a:ln>
        </p:spPr>
        <p:txBody>
          <a:bodyPr vert="horz" lIns="360000" tIns="180000" rIns="360000" bIns="144000" rtlCol="0" anchor="ctr">
            <a:noAutofit/>
          </a:bodyPr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9144000" cy="4428000"/>
          </a:xfrm>
          <a:prstGeom prst="rect">
            <a:avLst/>
          </a:prstGeom>
        </p:spPr>
        <p:txBody>
          <a:bodyPr vert="horz" lIns="432000" tIns="252000" rIns="43200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0" name="Date Placeholder 3"/>
          <p:cNvSpPr>
            <a:spLocks noGrp="1"/>
          </p:cNvSpPr>
          <p:nvPr>
            <p:ph type="dt" sz="half" idx="2"/>
          </p:nvPr>
        </p:nvSpPr>
        <p:spPr>
          <a:xfrm>
            <a:off x="755576" y="6570000"/>
            <a:ext cx="990706" cy="200055"/>
          </a:xfrm>
          <a:prstGeom prst="rect">
            <a:avLst/>
          </a:prstGeom>
          <a:solidFill>
            <a:srgbClr val="EC4B2F"/>
          </a:solidFill>
        </p:spPr>
        <p:txBody>
          <a:bodyPr wrap="none" lIns="108000" tIns="0" rIns="0" bIns="0" anchor="b" anchorCtr="0">
            <a:spAutoFit/>
          </a:bodyPr>
          <a:lstStyle>
            <a:lvl1pPr algn="r">
              <a:defRPr sz="13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algn="l"/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78" r:id="rId3"/>
    <p:sldLayoutId id="2147483653" r:id="rId4"/>
    <p:sldLayoutId id="2147483679" r:id="rId5"/>
    <p:sldLayoutId id="2147483688" r:id="rId6"/>
    <p:sldLayoutId id="2147483687" r:id="rId7"/>
    <p:sldLayoutId id="2147483689" r:id="rId8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all" baseline="0">
          <a:solidFill>
            <a:srgbClr val="EC4B2F"/>
          </a:solidFill>
          <a:latin typeface="Trebuchet MS" pitchFamily="34" charset="0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SzPct val="90000"/>
        <a:buFont typeface="Verdana" pitchFamily="34" charset="0"/>
        <a:buChar char="•"/>
        <a:defRPr sz="30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1pPr>
      <a:lvl2pPr marL="723900" indent="-3683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−"/>
        <a:defRPr sz="27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2pPr>
      <a:lvl3pPr marL="982663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•"/>
        <a:defRPr sz="24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3pPr>
      <a:lvl4pPr marL="1255713" indent="-27305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»"/>
        <a:defRPr sz="21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4pPr>
      <a:lvl5pPr marL="1609725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Arial" pitchFamily="34" charset="0"/>
        <a:buNone/>
        <a:defRPr sz="20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examples/text.txt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/PHP-MySQL/Lectures/Lecture10/example_01_text_read.htm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PHP-MySQL/Lectures/Lecture10/example_02_text_HTML.html" TargetMode="External"/><Relationship Id="rId2" Type="http://schemas.openxmlformats.org/officeDocument/2006/relationships/hyperlink" Target="examples/names.t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examples/books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/PHP-MySQL/Lectures/Lecture10/example_03_readBooks.html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examples/text.x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/PHP-MySQL/Lectures/Lecture10/example_04_XML_read.html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examples/Address.x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/PHP-MySQL/Lectures/Lecture10/example_05_readAddress.html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PHP-MySQL/Lectures/Lecture10/example_06_readbooksXML.html" TargetMode="External"/><Relationship Id="rId2" Type="http://schemas.openxmlformats.org/officeDocument/2006/relationships/hyperlink" Target="examples/books.x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localhost/PHP-MySQL/Lectures/Lecture10/example_07_readnamesXML.html" TargetMode="External"/><Relationship Id="rId4" Type="http://schemas.openxmlformats.org/officeDocument/2006/relationships/hyperlink" Target="examples/names.x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localhost/PHP-MySQL/Lectures/Lecture10/example_08_readAddressFile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://localhost/PHP-MySQL/Lectures/Lecture10/example_09_post_get.php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://localhost/PHP-MySQL/Lectures/Lecture10/example_10_searchAddress.php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api.jquery.com/jQuery.ajax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HP-MySQL/Lectures/Lecture10/example_11_searchAddress_jQuery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Asynchronous JavaScript And XML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AJAX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30609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4774347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FF0000"/>
                </a:solidFill>
              </a:rPr>
              <a:t>A</a:t>
            </a:r>
            <a:r>
              <a:rPr lang="en-US" noProof="0" dirty="0"/>
              <a:t>synchronous </a:t>
            </a:r>
            <a:r>
              <a:rPr lang="en-US" noProof="0" dirty="0">
                <a:solidFill>
                  <a:srgbClr val="FF0000"/>
                </a:solidFill>
              </a:rPr>
              <a:t>J</a:t>
            </a:r>
            <a:r>
              <a:rPr lang="en-US" noProof="0" dirty="0"/>
              <a:t>avaScript </a:t>
            </a:r>
            <a:r>
              <a:rPr lang="en-US" noProof="0" dirty="0">
                <a:solidFill>
                  <a:srgbClr val="FF0000"/>
                </a:solidFill>
              </a:rPr>
              <a:t>a</a:t>
            </a:r>
            <a:r>
              <a:rPr lang="en-US" noProof="0" dirty="0"/>
              <a:t>nd </a:t>
            </a:r>
            <a:r>
              <a:rPr lang="en-US" noProof="0" dirty="0">
                <a:solidFill>
                  <a:srgbClr val="FF0000"/>
                </a:solidFill>
              </a:rPr>
              <a:t>X</a:t>
            </a:r>
            <a:r>
              <a:rPr lang="en-US" noProof="0" dirty="0"/>
              <a:t>ML</a:t>
            </a:r>
          </a:p>
          <a:p>
            <a:r>
              <a:rPr lang="en-US" b="1" noProof="0" dirty="0"/>
              <a:t>not</a:t>
            </a:r>
            <a:r>
              <a:rPr lang="en-US" noProof="0" dirty="0"/>
              <a:t> a programming language</a:t>
            </a:r>
          </a:p>
          <a:p>
            <a:r>
              <a:rPr lang="en-US" noProof="0" dirty="0"/>
              <a:t>method to combine </a:t>
            </a:r>
            <a:r>
              <a:rPr lang="en-US" b="1" noProof="0" dirty="0"/>
              <a:t>existing standards</a:t>
            </a:r>
            <a:r>
              <a:rPr lang="en-US" noProof="0" dirty="0"/>
              <a:t>. </a:t>
            </a:r>
          </a:p>
          <a:p>
            <a:r>
              <a:rPr lang="en-US" noProof="0" dirty="0"/>
              <a:t>exchange data with a server and modify parts of a web page </a:t>
            </a:r>
            <a:r>
              <a:rPr lang="en-US" noProof="0" dirty="0">
                <a:solidFill>
                  <a:srgbClr val="FF0000"/>
                </a:solidFill>
              </a:rPr>
              <a:t>without having to reload the entire page.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what?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96721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294831" y="833304"/>
            <a:ext cx="8229600" cy="5332238"/>
          </a:xfrm>
        </p:spPr>
        <p:txBody>
          <a:bodyPr/>
          <a:lstStyle/>
          <a:p>
            <a:endParaRPr lang="en-US" sz="1200" noProof="0" dirty="0"/>
          </a:p>
          <a:p>
            <a:endParaRPr lang="en-US" noProof="0" dirty="0"/>
          </a:p>
        </p:txBody>
      </p:sp>
      <p:pic>
        <p:nvPicPr>
          <p:cNvPr id="5" name="Afbeeldingen44"/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06279" y="1080358"/>
            <a:ext cx="8147248" cy="4896544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3" name="Tekstvak 2"/>
          <p:cNvSpPr txBox="1"/>
          <p:nvPr/>
        </p:nvSpPr>
        <p:spPr>
          <a:xfrm>
            <a:off x="306279" y="648310"/>
            <a:ext cx="1887761" cy="36933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nl-BE" dirty="0"/>
              <a:t>HTML and CSS</a:t>
            </a:r>
          </a:p>
        </p:txBody>
      </p:sp>
      <p:sp>
        <p:nvSpPr>
          <p:cNvPr id="6" name="Ovaal 5"/>
          <p:cNvSpPr/>
          <p:nvPr/>
        </p:nvSpPr>
        <p:spPr>
          <a:xfrm>
            <a:off x="388631" y="1584414"/>
            <a:ext cx="1656184" cy="432048"/>
          </a:xfrm>
          <a:prstGeom prst="ellipse">
            <a:avLst/>
          </a:prstGeom>
          <a:solidFill>
            <a:srgbClr val="92D050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Tekstvak 6"/>
          <p:cNvSpPr txBox="1"/>
          <p:nvPr/>
        </p:nvSpPr>
        <p:spPr>
          <a:xfrm>
            <a:off x="2543329" y="73419"/>
            <a:ext cx="1518364" cy="646331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92D050"/>
                </a:solidFill>
              </a:rPr>
              <a:t>Javascript </a:t>
            </a:r>
          </a:p>
          <a:p>
            <a:r>
              <a:rPr lang="nl-BE" dirty="0" err="1">
                <a:solidFill>
                  <a:srgbClr val="92D050"/>
                </a:solidFill>
              </a:rPr>
              <a:t>eventhandler</a:t>
            </a:r>
            <a:endParaRPr lang="nl-BE" dirty="0">
              <a:solidFill>
                <a:srgbClr val="92D050"/>
              </a:solidFill>
            </a:endParaRPr>
          </a:p>
        </p:txBody>
      </p:sp>
      <p:cxnSp>
        <p:nvCxnSpPr>
          <p:cNvPr id="9" name="Rechte verbindingslijn met pijl 8"/>
          <p:cNvCxnSpPr>
            <a:stCxn id="6" idx="7"/>
          </p:cNvCxnSpPr>
          <p:nvPr/>
        </p:nvCxnSpPr>
        <p:spPr>
          <a:xfrm flipV="1">
            <a:off x="1802272" y="648310"/>
            <a:ext cx="818607" cy="999376"/>
          </a:xfrm>
          <a:prstGeom prst="straightConnector1">
            <a:avLst/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al 14"/>
          <p:cNvSpPr/>
          <p:nvPr/>
        </p:nvSpPr>
        <p:spPr>
          <a:xfrm>
            <a:off x="322892" y="2304494"/>
            <a:ext cx="2314600" cy="360040"/>
          </a:xfrm>
          <a:prstGeom prst="ellipse">
            <a:avLst/>
          </a:prstGeom>
          <a:solidFill>
            <a:srgbClr val="92D050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kstvak 15"/>
          <p:cNvSpPr txBox="1"/>
          <p:nvPr/>
        </p:nvSpPr>
        <p:spPr>
          <a:xfrm>
            <a:off x="2739467" y="938083"/>
            <a:ext cx="1287532" cy="646331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92D050"/>
                </a:solidFill>
              </a:rPr>
              <a:t>Javascript </a:t>
            </a:r>
          </a:p>
          <a:p>
            <a:r>
              <a:rPr lang="nl-BE" dirty="0">
                <a:solidFill>
                  <a:srgbClr val="92D050"/>
                </a:solidFill>
              </a:rPr>
              <a:t>object</a:t>
            </a:r>
          </a:p>
        </p:txBody>
      </p:sp>
      <p:cxnSp>
        <p:nvCxnSpPr>
          <p:cNvPr id="18" name="Rechte verbindingslijn met pijl 17"/>
          <p:cNvCxnSpPr/>
          <p:nvPr/>
        </p:nvCxnSpPr>
        <p:spPr>
          <a:xfrm flipV="1">
            <a:off x="2001773" y="1440398"/>
            <a:ext cx="818607" cy="859376"/>
          </a:xfrm>
          <a:prstGeom prst="straightConnector1">
            <a:avLst/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vak 19"/>
          <p:cNvSpPr txBox="1"/>
          <p:nvPr/>
        </p:nvSpPr>
        <p:spPr>
          <a:xfrm>
            <a:off x="2770897" y="2928465"/>
            <a:ext cx="3244970" cy="1200329"/>
          </a:xfrm>
          <a:prstGeom prst="rect">
            <a:avLst/>
          </a:prstGeom>
          <a:noFill/>
          <a:ln w="28575">
            <a:solidFill>
              <a:srgbClr val="DEA900"/>
            </a:solidFill>
          </a:ln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DEA900"/>
                </a:solidFill>
              </a:rPr>
              <a:t>Exchange data </a:t>
            </a:r>
            <a:r>
              <a:rPr lang="nl-BE" dirty="0" err="1">
                <a:solidFill>
                  <a:srgbClr val="DEA900"/>
                </a:solidFill>
              </a:rPr>
              <a:t>with</a:t>
            </a:r>
            <a:r>
              <a:rPr lang="nl-BE" dirty="0">
                <a:solidFill>
                  <a:srgbClr val="DEA900"/>
                </a:solidFill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nl-BE" dirty="0">
                <a:solidFill>
                  <a:srgbClr val="DEA900"/>
                </a:solidFill>
              </a:rPr>
              <a:t>XML</a:t>
            </a:r>
          </a:p>
          <a:p>
            <a:pPr marL="285750" indent="-285750">
              <a:buFontTx/>
              <a:buChar char="-"/>
            </a:pPr>
            <a:r>
              <a:rPr lang="nl-BE" dirty="0" err="1">
                <a:solidFill>
                  <a:srgbClr val="DEA900"/>
                </a:solidFill>
              </a:rPr>
              <a:t>Text</a:t>
            </a:r>
            <a:endParaRPr lang="nl-BE" dirty="0">
              <a:solidFill>
                <a:srgbClr val="DEA900"/>
              </a:solidFill>
            </a:endParaRPr>
          </a:p>
          <a:p>
            <a:pPr marL="285750" indent="-285750">
              <a:buFontTx/>
              <a:buChar char="-"/>
            </a:pPr>
            <a:r>
              <a:rPr lang="nl-BE" dirty="0">
                <a:solidFill>
                  <a:srgbClr val="DEA900"/>
                </a:solidFill>
              </a:rPr>
              <a:t>…</a:t>
            </a:r>
          </a:p>
        </p:txBody>
      </p:sp>
      <p:sp>
        <p:nvSpPr>
          <p:cNvPr id="21" name="Tekstvak 20"/>
          <p:cNvSpPr txBox="1"/>
          <p:nvPr/>
        </p:nvSpPr>
        <p:spPr>
          <a:xfrm>
            <a:off x="5169541" y="362889"/>
            <a:ext cx="3876805" cy="646331"/>
          </a:xfrm>
          <a:prstGeom prst="rect">
            <a:avLst/>
          </a:prstGeom>
          <a:noFill/>
          <a:ln w="28575">
            <a:solidFill>
              <a:srgbClr val="00A0AE"/>
            </a:solidFill>
          </a:ln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00A0AE"/>
                </a:solidFill>
              </a:rPr>
              <a:t>Server-</a:t>
            </a:r>
            <a:r>
              <a:rPr lang="nl-BE" dirty="0" err="1">
                <a:solidFill>
                  <a:srgbClr val="00A0AE"/>
                </a:solidFill>
              </a:rPr>
              <a:t>sided</a:t>
            </a:r>
            <a:r>
              <a:rPr lang="nl-BE" dirty="0">
                <a:solidFill>
                  <a:srgbClr val="00A0AE"/>
                </a:solidFill>
              </a:rPr>
              <a:t> </a:t>
            </a:r>
            <a:r>
              <a:rPr lang="nl-BE" dirty="0" err="1">
                <a:solidFill>
                  <a:srgbClr val="00A0AE"/>
                </a:solidFill>
              </a:rPr>
              <a:t>scripting</a:t>
            </a:r>
            <a:r>
              <a:rPr lang="nl-BE" dirty="0">
                <a:solidFill>
                  <a:srgbClr val="00A0AE"/>
                </a:solidFill>
              </a:rPr>
              <a:t> </a:t>
            </a:r>
            <a:r>
              <a:rPr lang="nl-BE" dirty="0" err="1">
                <a:solidFill>
                  <a:srgbClr val="00A0AE"/>
                </a:solidFill>
              </a:rPr>
              <a:t>language</a:t>
            </a:r>
            <a:endParaRPr lang="nl-BE" dirty="0">
              <a:solidFill>
                <a:srgbClr val="00A0AE"/>
              </a:solidFill>
            </a:endParaRPr>
          </a:p>
          <a:p>
            <a:r>
              <a:rPr lang="nl-BE" dirty="0">
                <a:solidFill>
                  <a:srgbClr val="00A0AE"/>
                </a:solidFill>
              </a:rPr>
              <a:t>E.g.: PHP, ASP, …</a:t>
            </a:r>
          </a:p>
        </p:txBody>
      </p:sp>
      <p:sp>
        <p:nvSpPr>
          <p:cNvPr id="22" name="Rechthoek 21"/>
          <p:cNvSpPr/>
          <p:nvPr/>
        </p:nvSpPr>
        <p:spPr>
          <a:xfrm>
            <a:off x="6149271" y="1500281"/>
            <a:ext cx="2232248" cy="1800200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4" name="Ovaal 23"/>
          <p:cNvSpPr/>
          <p:nvPr/>
        </p:nvSpPr>
        <p:spPr>
          <a:xfrm>
            <a:off x="1324735" y="4608750"/>
            <a:ext cx="1069728" cy="288032"/>
          </a:xfrm>
          <a:prstGeom prst="ellipse">
            <a:avLst/>
          </a:prstGeom>
          <a:solidFill>
            <a:srgbClr val="92D050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6" name="Tekstvak 25"/>
          <p:cNvSpPr txBox="1"/>
          <p:nvPr/>
        </p:nvSpPr>
        <p:spPr>
          <a:xfrm>
            <a:off x="2707723" y="5471057"/>
            <a:ext cx="6408854" cy="400110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Asynchronous = process happens in background</a:t>
            </a:r>
            <a:endParaRPr lang="nl-BE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42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/>
      <p:bldP spid="15" grpId="0" animBg="1"/>
      <p:bldP spid="16" grpId="0"/>
      <p:bldP spid="20" grpId="0" animBg="1"/>
      <p:bldP spid="21" grpId="0" animBg="1"/>
      <p:bldP spid="24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6940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After uploading page =&gt; user takes action =&gt; only the part that is adjusted is reloaded</a:t>
            </a:r>
          </a:p>
          <a:p>
            <a:pPr>
              <a:lnSpc>
                <a:spcPct val="120000"/>
              </a:lnSpc>
            </a:pPr>
            <a:r>
              <a:rPr lang="en-US" dirty="0"/>
              <a:t>page much more interactive for the user</a:t>
            </a:r>
            <a:r>
              <a:rPr lang="en-US" noProof="0" dirty="0"/>
              <a:t>:</a:t>
            </a:r>
          </a:p>
          <a:p>
            <a:pPr lvl="1"/>
            <a:r>
              <a:rPr lang="en-US" dirty="0"/>
              <a:t>faster interaction between application and server</a:t>
            </a:r>
          </a:p>
          <a:p>
            <a:pPr lvl="1"/>
            <a:r>
              <a:rPr lang="en-US" dirty="0"/>
              <a:t>asynchronous: the user continues to use the page in the meantime</a:t>
            </a:r>
            <a:br>
              <a:rPr lang="en-US" noProof="0" dirty="0"/>
            </a:br>
            <a:endParaRPr lang="en-US" sz="1200" noProof="0" dirty="0"/>
          </a:p>
          <a:p>
            <a:r>
              <a:rPr lang="en-US" dirty="0"/>
              <a:t>less network traffic</a:t>
            </a:r>
            <a:br>
              <a:rPr lang="en-US" noProof="0" dirty="0"/>
            </a:br>
            <a:endParaRPr lang="en-US" sz="1300" noProof="0" dirty="0"/>
          </a:p>
          <a:p>
            <a:r>
              <a:rPr lang="en-US" dirty="0"/>
              <a:t>Less work for the web and data server</a:t>
            </a:r>
          </a:p>
          <a:p>
            <a:endParaRPr lang="en-US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n-US" noProof="0" dirty="0"/>
              <a:t>	Examples: 	google (Gmail, Google suggest, 				                       Google Calendar, Google maps)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noProof="0" dirty="0"/>
              <a:t>			</a:t>
            </a:r>
            <a:r>
              <a:rPr lang="en-US" noProof="0" dirty="0" err="1"/>
              <a:t>facebook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55388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015" y="1199808"/>
            <a:ext cx="6523285" cy="3048264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7" name="Ovaal 6"/>
          <p:cNvSpPr/>
          <p:nvPr/>
        </p:nvSpPr>
        <p:spPr>
          <a:xfrm>
            <a:off x="79898" y="2711197"/>
            <a:ext cx="1624614" cy="346229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373" y="3121266"/>
            <a:ext cx="4953429" cy="2834886"/>
          </a:xfrm>
          <a:prstGeom prst="rect">
            <a:avLst/>
          </a:prstGeom>
        </p:spPr>
      </p:pic>
      <p:sp>
        <p:nvSpPr>
          <p:cNvPr id="10" name="Ovaal 9"/>
          <p:cNvSpPr/>
          <p:nvPr/>
        </p:nvSpPr>
        <p:spPr>
          <a:xfrm>
            <a:off x="5072686" y="4365594"/>
            <a:ext cx="1624614" cy="1097657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 err="1"/>
              <a:t>XMLHttpRequest</a:t>
            </a:r>
            <a:r>
              <a:rPr lang="en-US" noProof="0" dirty="0"/>
              <a:t> (XHR</a:t>
            </a:r>
            <a:r>
              <a:rPr lang="en-US" dirty="0"/>
              <a:t>) not in browser history list =&gt; </a:t>
            </a:r>
            <a:r>
              <a:rPr lang="en-US" noProof="0" dirty="0"/>
              <a:t>“back-arrow” doesn’t work</a:t>
            </a:r>
          </a:p>
          <a:p>
            <a:pPr marL="0" indent="0">
              <a:buNone/>
            </a:pPr>
            <a:endParaRPr lang="en-US" sz="1000" noProof="0" dirty="0"/>
          </a:p>
          <a:p>
            <a:r>
              <a:rPr lang="en-US" dirty="0"/>
              <a:t>Asynchronous =&gt; changing pages without the user noticing =&gt; confusing?</a:t>
            </a:r>
            <a:endParaRPr lang="en-US" noProof="0" dirty="0"/>
          </a:p>
          <a:p>
            <a:pPr marL="0" indent="0">
              <a:buNone/>
            </a:pPr>
            <a:endParaRPr lang="en-US" sz="1000" noProof="0" dirty="0"/>
          </a:p>
          <a:p>
            <a:r>
              <a:rPr lang="en-US" dirty="0"/>
              <a:t>Ajax uses JavaScript =&gt; visible to user =&gt; safety risk</a:t>
            </a:r>
          </a:p>
          <a:p>
            <a:endParaRPr lang="en-US" sz="1100" noProof="0" dirty="0"/>
          </a:p>
          <a:p>
            <a:r>
              <a:rPr lang="en-US" dirty="0"/>
              <a:t>Often possible to create interactive web pages without </a:t>
            </a:r>
            <a:r>
              <a:rPr lang="en-US" dirty="0" err="1"/>
              <a:t>XMLHttpRequest</a:t>
            </a:r>
            <a:r>
              <a:rPr lang="en-US" dirty="0"/>
              <a:t>.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6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13751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294831" y="833304"/>
            <a:ext cx="8229600" cy="5332238"/>
          </a:xfrm>
        </p:spPr>
        <p:txBody>
          <a:bodyPr/>
          <a:lstStyle/>
          <a:p>
            <a:endParaRPr lang="en-US" sz="1200" noProof="0" dirty="0"/>
          </a:p>
          <a:p>
            <a:endParaRPr lang="en-US" noProof="0" dirty="0"/>
          </a:p>
        </p:txBody>
      </p:sp>
      <p:pic>
        <p:nvPicPr>
          <p:cNvPr id="5" name="Afbeeldingen44"/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06279" y="1080358"/>
            <a:ext cx="8147248" cy="4896544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15" name="Ovaal 14"/>
          <p:cNvSpPr/>
          <p:nvPr/>
        </p:nvSpPr>
        <p:spPr>
          <a:xfrm>
            <a:off x="322892" y="2304494"/>
            <a:ext cx="2314600" cy="360040"/>
          </a:xfrm>
          <a:prstGeom prst="ellipse">
            <a:avLst/>
          </a:prstGeom>
          <a:solidFill>
            <a:srgbClr val="92D050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kstvak 15"/>
          <p:cNvSpPr txBox="1"/>
          <p:nvPr/>
        </p:nvSpPr>
        <p:spPr>
          <a:xfrm>
            <a:off x="2739467" y="938083"/>
            <a:ext cx="1287532" cy="646331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92D050"/>
                </a:solidFill>
              </a:rPr>
              <a:t>Javascript </a:t>
            </a:r>
          </a:p>
          <a:p>
            <a:r>
              <a:rPr lang="nl-BE" dirty="0">
                <a:solidFill>
                  <a:srgbClr val="92D050"/>
                </a:solidFill>
              </a:rPr>
              <a:t>object</a:t>
            </a:r>
          </a:p>
        </p:txBody>
      </p:sp>
      <p:cxnSp>
        <p:nvCxnSpPr>
          <p:cNvPr id="18" name="Rechte verbindingslijn met pijl 17"/>
          <p:cNvCxnSpPr/>
          <p:nvPr/>
        </p:nvCxnSpPr>
        <p:spPr>
          <a:xfrm flipV="1">
            <a:off x="2001773" y="1440398"/>
            <a:ext cx="818607" cy="859376"/>
          </a:xfrm>
          <a:prstGeom prst="straightConnector1">
            <a:avLst/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hoek 21"/>
          <p:cNvSpPr/>
          <p:nvPr/>
        </p:nvSpPr>
        <p:spPr>
          <a:xfrm>
            <a:off x="6149271" y="1500281"/>
            <a:ext cx="2232248" cy="1800200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2762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 err="1"/>
              <a:t>XMLHttpRequest</a:t>
            </a:r>
            <a:r>
              <a:rPr lang="en-US" noProof="0" dirty="0"/>
              <a:t> =&gt; </a:t>
            </a:r>
            <a:r>
              <a:rPr lang="en-US" dirty="0"/>
              <a:t>built-in in modern 						 browsers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Create object: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	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XHR = </a:t>
            </a:r>
            <a:r>
              <a:rPr lang="en-US" sz="28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XMLHttpRequest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XHR object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8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03359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294831" y="833304"/>
            <a:ext cx="8229600" cy="5332238"/>
          </a:xfrm>
        </p:spPr>
        <p:txBody>
          <a:bodyPr/>
          <a:lstStyle/>
          <a:p>
            <a:endParaRPr lang="en-US" sz="1200" noProof="0" dirty="0"/>
          </a:p>
          <a:p>
            <a:endParaRPr lang="en-US" noProof="0" dirty="0"/>
          </a:p>
        </p:txBody>
      </p:sp>
      <p:pic>
        <p:nvPicPr>
          <p:cNvPr id="5" name="Afbeeldingen44"/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06279" y="1080358"/>
            <a:ext cx="8147248" cy="4896544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15" name="Ovaal 14"/>
          <p:cNvSpPr/>
          <p:nvPr/>
        </p:nvSpPr>
        <p:spPr>
          <a:xfrm>
            <a:off x="306279" y="2731756"/>
            <a:ext cx="2314600" cy="360040"/>
          </a:xfrm>
          <a:prstGeom prst="ellipse">
            <a:avLst/>
          </a:prstGeom>
          <a:solidFill>
            <a:srgbClr val="92D050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2" name="Rechthoek 21"/>
          <p:cNvSpPr/>
          <p:nvPr/>
        </p:nvSpPr>
        <p:spPr>
          <a:xfrm>
            <a:off x="6149271" y="1500281"/>
            <a:ext cx="2232248" cy="1800200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0200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/>
          <p:cNvSpPr>
            <a:spLocks noGrp="1"/>
          </p:cNvSpPr>
          <p:nvPr>
            <p:ph idx="1"/>
          </p:nvPr>
        </p:nvSpPr>
        <p:spPr>
          <a:xfrm>
            <a:off x="0" y="1240335"/>
            <a:ext cx="9144000" cy="4428000"/>
          </a:xfrm>
        </p:spPr>
        <p:txBody>
          <a:bodyPr>
            <a:normAutofit lnSpcReduction="10000"/>
          </a:bodyPr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use </a:t>
            </a:r>
            <a:r>
              <a:rPr lang="en-US" noProof="0" dirty="0" err="1"/>
              <a:t>eventhandler</a:t>
            </a:r>
            <a:r>
              <a:rPr lang="en-US" noProof="0" dirty="0"/>
              <a:t> in JS =&gt; start function with:</a:t>
            </a:r>
          </a:p>
          <a:p>
            <a:pPr marL="812800" lvl="1" indent="-457200">
              <a:buFont typeface="+mj-lt"/>
              <a:buAutoNum type="arabicPeriod"/>
            </a:pPr>
            <a:r>
              <a:rPr lang="en-US" noProof="0" dirty="0"/>
              <a:t>open() and send() functions</a:t>
            </a:r>
          </a:p>
          <a:p>
            <a:pPr marL="812800" lvl="1" indent="-457200">
              <a:buFont typeface="+mj-lt"/>
              <a:buAutoNum type="arabicPeriod"/>
            </a:pPr>
            <a:r>
              <a:rPr lang="en-US" noProof="0" dirty="0"/>
              <a:t>processing on the server</a:t>
            </a:r>
          </a:p>
          <a:p>
            <a:pPr marL="812800" lvl="1" indent="-457200">
              <a:buFont typeface="+mj-lt"/>
              <a:buAutoNum type="arabicPeriod"/>
            </a:pPr>
            <a:r>
              <a:rPr lang="en-US" noProof="0" dirty="0"/>
              <a:t>process returning data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Send Request to server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10</a:t>
            </a:fld>
            <a:endParaRPr lang="nl-BE" dirty="0"/>
          </a:p>
        </p:txBody>
      </p:sp>
      <p:graphicFrame>
        <p:nvGraphicFramePr>
          <p:cNvPr id="7" name="Tabel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493457"/>
              </p:ext>
            </p:extLst>
          </p:nvPr>
        </p:nvGraphicFramePr>
        <p:xfrm>
          <a:off x="379016" y="1395250"/>
          <a:ext cx="8385968" cy="1766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0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5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473">
                <a:tc>
                  <a:txBody>
                    <a:bodyPr/>
                    <a:lstStyle/>
                    <a:p>
                      <a:r>
                        <a:rPr lang="nl-BE" sz="1600" b="0" dirty="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600" b="0" dirty="0" err="1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nl-BE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29">
                <a:tc>
                  <a:txBody>
                    <a:bodyPr/>
                    <a:lstStyle/>
                    <a:p>
                      <a: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open(</a:t>
                      </a:r>
                      <a:r>
                        <a:rPr lang="nl-BE" sz="1600" i="1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method,url,async</a:t>
                      </a:r>
                      <a: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1600" dirty="0">
                          <a:solidFill>
                            <a:srgbClr val="EC4B2F"/>
                          </a:solidFill>
                        </a:rPr>
                        <a:t>method</a:t>
                      </a:r>
                      <a: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: </a:t>
                      </a:r>
                      <a:r>
                        <a:rPr lang="nl-BE" sz="160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the</a:t>
                      </a:r>
                      <a: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type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of </a:t>
                      </a:r>
                      <a:r>
                        <a:rPr lang="nl-BE" sz="1600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request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(GET or POST)</a:t>
                      </a:r>
                      <a:b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</a:br>
                      <a:r>
                        <a:rPr lang="nl-BE" sz="1600" baseline="0" dirty="0">
                          <a:solidFill>
                            <a:srgbClr val="EC4B2F"/>
                          </a:solidFill>
                        </a:rPr>
                        <a:t>url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: </a:t>
                      </a:r>
                      <a:r>
                        <a:rPr lang="nl-BE" sz="1600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the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nl-BE" sz="1600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location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of </a:t>
                      </a:r>
                      <a:r>
                        <a:rPr lang="nl-BE" sz="1600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the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file on </a:t>
                      </a:r>
                      <a:r>
                        <a:rPr lang="nl-BE" sz="1600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the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server</a:t>
                      </a:r>
                      <a:b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</a:br>
                      <a:r>
                        <a:rPr lang="nl-BE" sz="1600" baseline="0" dirty="0" err="1">
                          <a:solidFill>
                            <a:srgbClr val="EC4B2F"/>
                          </a:solidFill>
                        </a:rPr>
                        <a:t>async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: </a:t>
                      </a:r>
                      <a:r>
                        <a:rPr lang="nl-BE" sz="1600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true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(</a:t>
                      </a:r>
                      <a:r>
                        <a:rPr lang="nl-BE" sz="1600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asynchronous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) or </a:t>
                      </a:r>
                      <a:r>
                        <a:rPr lang="nl-BE" sz="1600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false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(</a:t>
                      </a:r>
                      <a:r>
                        <a:rPr lang="nl-BE" sz="1600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synchronous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)</a:t>
                      </a:r>
                      <a:endParaRPr lang="nl-BE" sz="1600" dirty="0">
                        <a:solidFill>
                          <a:schemeClr val="accent6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29">
                <a:tc>
                  <a:txBody>
                    <a:bodyPr/>
                    <a:lstStyle/>
                    <a:p>
                      <a:r>
                        <a:rPr lang="nl-BE" sz="160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send</a:t>
                      </a:r>
                      <a: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(</a:t>
                      </a:r>
                      <a:r>
                        <a:rPr lang="nl-BE" sz="1600" i="1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string</a:t>
                      </a:r>
                      <a: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1600" dirty="0">
                          <a:solidFill>
                            <a:srgbClr val="EC4B2F"/>
                          </a:solidFill>
                        </a:rPr>
                        <a:t>string</a:t>
                      </a:r>
                      <a: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: </a:t>
                      </a:r>
                      <a:r>
                        <a:rPr lang="nl-BE" sz="160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only</a:t>
                      </a:r>
                      <a: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nl-BE" sz="160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for</a:t>
                      </a:r>
                      <a: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POST </a:t>
                      </a:r>
                      <a:r>
                        <a:rPr lang="nl-BE" sz="160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requests</a:t>
                      </a:r>
                      <a:b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</a:br>
                      <a:r>
                        <a:rPr lang="nl-BE" sz="1600" dirty="0" err="1">
                          <a:solidFill>
                            <a:srgbClr val="EC4B2F"/>
                          </a:solidFill>
                        </a:rPr>
                        <a:t>null</a:t>
                      </a:r>
                      <a: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: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nl-BE" sz="1600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for</a:t>
                      </a:r>
                      <a:r>
                        <a:rPr lang="nl-BE" sz="16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 GET </a:t>
                      </a:r>
                      <a:r>
                        <a:rPr lang="nl-BE" sz="1600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requests</a:t>
                      </a:r>
                      <a:endParaRPr lang="nl-BE" sz="1600" dirty="0">
                        <a:solidFill>
                          <a:schemeClr val="accent6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764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829252"/>
          </a:xfrm>
        </p:spPr>
        <p:txBody>
          <a:bodyPr>
            <a:normAutofit fontScale="70000" lnSpcReduction="20000"/>
          </a:bodyPr>
          <a:lstStyle/>
          <a:p>
            <a:r>
              <a:rPr lang="en-US" noProof="0" dirty="0"/>
              <a:t>GET:</a:t>
            </a:r>
          </a:p>
          <a:p>
            <a:pPr lvl="1"/>
            <a:r>
              <a:rPr lang="en-US" dirty="0"/>
              <a:t>query string limited in length (length depending on browser);</a:t>
            </a:r>
          </a:p>
          <a:p>
            <a:pPr lvl="1"/>
            <a:r>
              <a:rPr lang="en-US" dirty="0"/>
              <a:t>data can only be sent in ASCII;</a:t>
            </a:r>
          </a:p>
          <a:p>
            <a:pPr lvl="1"/>
            <a:r>
              <a:rPr lang="en-US" dirty="0"/>
              <a:t>query string visible to user;</a:t>
            </a:r>
          </a:p>
          <a:p>
            <a:pPr lvl="1"/>
            <a:r>
              <a:rPr lang="en-US" dirty="0"/>
              <a:t>simpler and faster than POST.</a:t>
            </a:r>
            <a:endParaRPr lang="en-US" noProof="0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noProof="0" dirty="0"/>
              <a:t>POST</a:t>
            </a:r>
          </a:p>
          <a:p>
            <a:pPr lvl="1"/>
            <a:r>
              <a:rPr lang="en-US" dirty="0"/>
              <a:t>if a file on the server needs to be modified;</a:t>
            </a:r>
          </a:p>
          <a:p>
            <a:pPr lvl="1"/>
            <a:r>
              <a:rPr lang="en-US" dirty="0"/>
              <a:t>in case of large amounts of data traffic;</a:t>
            </a:r>
          </a:p>
          <a:p>
            <a:pPr lvl="1"/>
            <a:r>
              <a:rPr lang="en-US" dirty="0"/>
              <a:t>if input from users has to be transmitted (POST is more robust)</a:t>
            </a:r>
            <a:endParaRPr lang="en-US" noProof="0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dirty="0" err="1"/>
              <a:t>async</a:t>
            </a:r>
            <a:r>
              <a:rPr lang="en-US" dirty="0"/>
              <a:t>: true (asynchronous) or false (synchronous = first load all data). </a:t>
            </a:r>
          </a:p>
          <a:p>
            <a:pPr lvl="1"/>
            <a:r>
              <a:rPr lang="en-US" dirty="0"/>
              <a:t>Asynchronous is safer </a:t>
            </a:r>
          </a:p>
          <a:p>
            <a:pPr lvl="1"/>
            <a:r>
              <a:rPr lang="en-US" dirty="0"/>
              <a:t>Synchronous: queried server can block your script if there is a problem.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Send Request to server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0025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294831" y="833304"/>
            <a:ext cx="8229600" cy="5332238"/>
          </a:xfrm>
        </p:spPr>
        <p:txBody>
          <a:bodyPr/>
          <a:lstStyle/>
          <a:p>
            <a:endParaRPr lang="en-US" sz="1200" noProof="0" dirty="0"/>
          </a:p>
          <a:p>
            <a:endParaRPr lang="en-US" noProof="0" dirty="0"/>
          </a:p>
        </p:txBody>
      </p:sp>
      <p:pic>
        <p:nvPicPr>
          <p:cNvPr id="5" name="Afbeeldingen44"/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06279" y="1080358"/>
            <a:ext cx="8147248" cy="4896544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15" name="Ovaal 14"/>
          <p:cNvSpPr/>
          <p:nvPr/>
        </p:nvSpPr>
        <p:spPr>
          <a:xfrm>
            <a:off x="294831" y="4291614"/>
            <a:ext cx="2314600" cy="646145"/>
          </a:xfrm>
          <a:prstGeom prst="ellipse">
            <a:avLst/>
          </a:prstGeom>
          <a:solidFill>
            <a:srgbClr val="92D050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2" name="Rechthoek 21"/>
          <p:cNvSpPr/>
          <p:nvPr/>
        </p:nvSpPr>
        <p:spPr>
          <a:xfrm>
            <a:off x="6149271" y="1500281"/>
            <a:ext cx="2232248" cy="1800200"/>
          </a:xfrm>
          <a:prstGeom prst="rect">
            <a:avLst/>
          </a:prstGeom>
          <a:noFill/>
          <a:ln w="76200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8294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  </a:t>
            </a:r>
          </a:p>
          <a:p>
            <a:pPr marL="0" indent="0" algn="ctr">
              <a:buNone/>
            </a:pP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XHR.onreadystatechange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= function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Onreadystatechange</a:t>
            </a:r>
            <a:r>
              <a:rPr lang="en-US" noProof="0" dirty="0"/>
              <a:t> event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8" name="Rechthoek 7"/>
          <p:cNvSpPr/>
          <p:nvPr/>
        </p:nvSpPr>
        <p:spPr>
          <a:xfrm>
            <a:off x="755576" y="1871831"/>
            <a:ext cx="5311737" cy="548640"/>
          </a:xfrm>
          <a:prstGeom prst="rect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Rechte verbindingslijn met pijl 9"/>
          <p:cNvCxnSpPr>
            <a:stCxn id="8" idx="2"/>
          </p:cNvCxnSpPr>
          <p:nvPr/>
        </p:nvCxnSpPr>
        <p:spPr>
          <a:xfrm flipH="1">
            <a:off x="3410174" y="2420471"/>
            <a:ext cx="1271" cy="903642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vak 10"/>
          <p:cNvSpPr txBox="1"/>
          <p:nvPr/>
        </p:nvSpPr>
        <p:spPr>
          <a:xfrm>
            <a:off x="540000" y="3333129"/>
            <a:ext cx="6413682" cy="646331"/>
          </a:xfrm>
          <a:prstGeom prst="rect">
            <a:avLst/>
          </a:prstGeom>
          <a:noFill/>
          <a:ln>
            <a:solidFill>
              <a:srgbClr val="00A0AE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A0AE"/>
                </a:solidFill>
              </a:rPr>
              <a:t>Add </a:t>
            </a:r>
            <a:r>
              <a:rPr lang="en-US" dirty="0" err="1">
                <a:solidFill>
                  <a:srgbClr val="00A0AE"/>
                </a:solidFill>
              </a:rPr>
              <a:t>eventlistener</a:t>
            </a:r>
            <a:r>
              <a:rPr lang="en-US" dirty="0">
                <a:solidFill>
                  <a:srgbClr val="00A0AE"/>
                </a:solidFill>
              </a:rPr>
              <a:t> to </a:t>
            </a:r>
            <a:r>
              <a:rPr lang="en-US" dirty="0" err="1">
                <a:solidFill>
                  <a:srgbClr val="00A0AE"/>
                </a:solidFill>
              </a:rPr>
              <a:t>XMLHttpRequest</a:t>
            </a:r>
            <a:r>
              <a:rPr lang="en-US" dirty="0">
                <a:solidFill>
                  <a:srgbClr val="00A0AE"/>
                </a:solidFill>
              </a:rPr>
              <a:t> object: detects any state change</a:t>
            </a:r>
          </a:p>
        </p:txBody>
      </p:sp>
    </p:spTree>
    <p:extLst>
      <p:ext uri="{BB962C8B-B14F-4D97-AF65-F5344CB8AC3E}">
        <p14:creationId xmlns:p14="http://schemas.microsoft.com/office/powerpoint/2010/main" val="11328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50874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sz="2600" noProof="0" dirty="0"/>
              <a:t>if </a:t>
            </a:r>
            <a:r>
              <a:rPr lang="en-US" sz="2600" noProof="0" dirty="0" err="1"/>
              <a:t>readySate</a:t>
            </a:r>
            <a:r>
              <a:rPr lang="en-US" sz="2600" noProof="0" dirty="0"/>
              <a:t> == 4 and status == 200 =&gt; process data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readystate</a:t>
            </a:r>
            <a:r>
              <a:rPr lang="en-US" noProof="0" dirty="0"/>
              <a:t> property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14</a:t>
            </a:fld>
            <a:endParaRPr lang="nl-BE" dirty="0"/>
          </a:p>
        </p:txBody>
      </p:sp>
      <p:graphicFrame>
        <p:nvGraphicFramePr>
          <p:cNvPr id="9" name="Tabel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910049"/>
              </p:ext>
            </p:extLst>
          </p:nvPr>
        </p:nvGraphicFramePr>
        <p:xfrm>
          <a:off x="379016" y="1395250"/>
          <a:ext cx="8385968" cy="3717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473">
                <a:tc>
                  <a:txBody>
                    <a:bodyPr/>
                    <a:lstStyle/>
                    <a:p>
                      <a:r>
                        <a:rPr lang="nl-BE" sz="1600" b="0" dirty="0">
                          <a:solidFill>
                            <a:schemeClr val="bg1"/>
                          </a:solidFill>
                        </a:rPr>
                        <a:t>Property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600" b="0" dirty="0" err="1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nl-BE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29">
                <a:tc>
                  <a:txBody>
                    <a:bodyPr/>
                    <a:lstStyle/>
                    <a:p>
                      <a:r>
                        <a:rPr lang="nl-BE" sz="160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readyState</a:t>
                      </a:r>
                      <a:endParaRPr lang="nl-BE" sz="1600" dirty="0">
                        <a:solidFill>
                          <a:schemeClr val="accent6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Holds status of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</a:rPr>
                        <a:t>XMLHttpRequest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. Changes from 0 to 4: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     0: request not initialized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     1: server connection established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     2: request received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     3: processing request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     4: request finished and response is ready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29">
                <a:tc>
                  <a:txBody>
                    <a:bodyPr/>
                    <a:lstStyle/>
                    <a:p>
                      <a:r>
                        <a:rPr lang="nl-BE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200 = "OK“</a:t>
                      </a:r>
                    </a:p>
                    <a:p>
                      <a:r>
                        <a:rPr lang="en-US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204 = no content</a:t>
                      </a:r>
                      <a:br>
                        <a:rPr lang="en-US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400 = bad request</a:t>
                      </a:r>
                      <a:br>
                        <a:rPr lang="en-US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401 = unauthorized</a:t>
                      </a:r>
                      <a:br>
                        <a:rPr lang="en-US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403 = forbidden</a:t>
                      </a:r>
                      <a:br>
                        <a:rPr lang="en-US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404 = Page not found</a:t>
                      </a:r>
                    </a:p>
                    <a:p>
                      <a:r>
                        <a:rPr lang="en-US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50X = fout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vaal 5"/>
          <p:cNvSpPr/>
          <p:nvPr/>
        </p:nvSpPr>
        <p:spPr>
          <a:xfrm>
            <a:off x="2173045" y="2990626"/>
            <a:ext cx="4679576" cy="333487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al 6"/>
          <p:cNvSpPr/>
          <p:nvPr/>
        </p:nvSpPr>
        <p:spPr>
          <a:xfrm>
            <a:off x="1947134" y="3324113"/>
            <a:ext cx="1247887" cy="322729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1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2 options:</a:t>
            </a:r>
          </a:p>
          <a:p>
            <a:endParaRPr lang="en-US" noProof="0" dirty="0"/>
          </a:p>
          <a:p>
            <a:pPr lvl="1"/>
            <a:r>
              <a:rPr lang="en-US" noProof="0" dirty="0"/>
              <a:t>Text 	=&gt;	</a:t>
            </a:r>
            <a:r>
              <a:rPr lang="en-US" noProof="0" dirty="0" err="1"/>
              <a:t>responseText</a:t>
            </a:r>
            <a:endParaRPr lang="en-US" noProof="0" dirty="0"/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XML 	=&gt;	</a:t>
            </a:r>
            <a:r>
              <a:rPr lang="en-US" noProof="0" dirty="0" err="1"/>
              <a:t>responseXML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Server response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3308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C4B2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C4B2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12" y="3542069"/>
            <a:ext cx="7974381" cy="1834327"/>
          </a:xfrm>
          <a:prstGeom prst="rect">
            <a:avLst/>
          </a:prstGeom>
        </p:spPr>
      </p:pic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 and show </a:t>
            </a:r>
            <a:r>
              <a:rPr lang="en-US" noProof="0" dirty="0">
                <a:hlinkClick r:id="rId3" action="ppaction://hlinkfile"/>
              </a:rPr>
              <a:t>text file</a:t>
            </a:r>
            <a:endParaRPr lang="en-US" noProof="0" dirty="0"/>
          </a:p>
          <a:p>
            <a:r>
              <a:rPr lang="en-US" noProof="0" dirty="0">
                <a:hlinkClick r:id="rId4"/>
              </a:rPr>
              <a:t>result</a:t>
            </a:r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sz="2400" noProof="0" dirty="0"/>
              <a:t>In the body: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Text response: example 1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8" name="Ovaal 7"/>
          <p:cNvSpPr/>
          <p:nvPr/>
        </p:nvSpPr>
        <p:spPr>
          <a:xfrm>
            <a:off x="1810277" y="4572000"/>
            <a:ext cx="1957325" cy="302508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2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5" y="1492428"/>
            <a:ext cx="8830588" cy="4179603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Text response: example 1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9" name="Ovaal 8"/>
          <p:cNvSpPr/>
          <p:nvPr/>
        </p:nvSpPr>
        <p:spPr>
          <a:xfrm>
            <a:off x="360000" y="1905804"/>
            <a:ext cx="3978244" cy="349444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kstvak 9"/>
          <p:cNvSpPr txBox="1"/>
          <p:nvPr/>
        </p:nvSpPr>
        <p:spPr>
          <a:xfrm>
            <a:off x="4374689" y="1403927"/>
            <a:ext cx="373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A0AE"/>
                </a:solidFill>
              </a:rPr>
              <a:t>Create </a:t>
            </a:r>
            <a:r>
              <a:rPr lang="en-US" dirty="0" err="1">
                <a:solidFill>
                  <a:srgbClr val="00A0AE"/>
                </a:solidFill>
              </a:rPr>
              <a:t>XMLHttpRequest</a:t>
            </a:r>
            <a:r>
              <a:rPr lang="en-US" dirty="0">
                <a:solidFill>
                  <a:srgbClr val="00A0AE"/>
                </a:solidFill>
              </a:rPr>
              <a:t> object</a:t>
            </a:r>
          </a:p>
        </p:txBody>
      </p:sp>
      <p:cxnSp>
        <p:nvCxnSpPr>
          <p:cNvPr id="12" name="Rechte verbindingslijn met pijl 11"/>
          <p:cNvCxnSpPr/>
          <p:nvPr/>
        </p:nvCxnSpPr>
        <p:spPr>
          <a:xfrm flipV="1">
            <a:off x="4338244" y="1763315"/>
            <a:ext cx="750926" cy="330510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al 13"/>
          <p:cNvSpPr/>
          <p:nvPr/>
        </p:nvSpPr>
        <p:spPr>
          <a:xfrm>
            <a:off x="360001" y="4504456"/>
            <a:ext cx="2921680" cy="434627"/>
          </a:xfrm>
          <a:prstGeom prst="ellipse">
            <a:avLst/>
          </a:prstGeom>
          <a:noFill/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kstvak 14"/>
          <p:cNvSpPr txBox="1"/>
          <p:nvPr/>
        </p:nvSpPr>
        <p:spPr>
          <a:xfrm>
            <a:off x="3019753" y="5094473"/>
            <a:ext cx="2283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Send </a:t>
            </a:r>
            <a:r>
              <a:rPr lang="en-US" dirty="0" err="1">
                <a:solidFill>
                  <a:srgbClr val="EC4B2F"/>
                </a:solidFill>
              </a:rPr>
              <a:t>HttpRequest</a:t>
            </a:r>
            <a:endParaRPr lang="en-US" dirty="0">
              <a:solidFill>
                <a:srgbClr val="EC4B2F"/>
              </a:solidFill>
            </a:endParaRPr>
          </a:p>
        </p:txBody>
      </p:sp>
      <p:cxnSp>
        <p:nvCxnSpPr>
          <p:cNvPr id="16" name="Rechte verbindingslijn met pijl 15"/>
          <p:cNvCxnSpPr>
            <a:cxnSpLocks/>
          </p:cNvCxnSpPr>
          <p:nvPr/>
        </p:nvCxnSpPr>
        <p:spPr>
          <a:xfrm>
            <a:off x="3268502" y="4763874"/>
            <a:ext cx="536318" cy="330599"/>
          </a:xfrm>
          <a:prstGeom prst="straightConnector1">
            <a:avLst/>
          </a:prstGeom>
          <a:ln w="28575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al 16"/>
          <p:cNvSpPr/>
          <p:nvPr/>
        </p:nvSpPr>
        <p:spPr>
          <a:xfrm>
            <a:off x="603717" y="3739230"/>
            <a:ext cx="5329570" cy="43462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kstvak 17"/>
          <p:cNvSpPr txBox="1"/>
          <p:nvPr/>
        </p:nvSpPr>
        <p:spPr>
          <a:xfrm>
            <a:off x="5659752" y="3318998"/>
            <a:ext cx="311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Add </a:t>
            </a:r>
            <a:r>
              <a:rPr lang="en-US" dirty="0" err="1">
                <a:solidFill>
                  <a:srgbClr val="00B050"/>
                </a:solidFill>
              </a:rPr>
              <a:t>eventlistener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19" name="Rechte verbindingslijn met pijl 18"/>
          <p:cNvCxnSpPr/>
          <p:nvPr/>
        </p:nvCxnSpPr>
        <p:spPr>
          <a:xfrm flipV="1">
            <a:off x="5860412" y="3689569"/>
            <a:ext cx="767848" cy="21160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al 4">
            <a:extLst>
              <a:ext uri="{FF2B5EF4-FFF2-40B4-BE49-F238E27FC236}">
                <a16:creationId xmlns:a16="http://schemas.microsoft.com/office/drawing/2014/main" id="{3D32829F-3A66-C16C-553F-E0594025F4CF}"/>
              </a:ext>
            </a:extLst>
          </p:cNvPr>
          <p:cNvSpPr/>
          <p:nvPr/>
        </p:nvSpPr>
        <p:spPr>
          <a:xfrm>
            <a:off x="532597" y="4084670"/>
            <a:ext cx="4201963" cy="434627"/>
          </a:xfrm>
          <a:prstGeom prst="ellipse">
            <a:avLst/>
          </a:prstGeom>
          <a:noFill/>
          <a:ln>
            <a:solidFill>
              <a:srgbClr val="CC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C66FF"/>
              </a:solidFill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33C2835B-65A8-4DB5-4A6C-597664B5A3F4}"/>
              </a:ext>
            </a:extLst>
          </p:cNvPr>
          <p:cNvSpPr txBox="1"/>
          <p:nvPr/>
        </p:nvSpPr>
        <p:spPr>
          <a:xfrm>
            <a:off x="5487032" y="4456918"/>
            <a:ext cx="311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C66FF"/>
                </a:solidFill>
              </a:rPr>
              <a:t>Configure request</a:t>
            </a:r>
          </a:p>
        </p:txBody>
      </p: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A7CC1ACD-EF51-9E41-42CD-C273DC7F04F0}"/>
              </a:ext>
            </a:extLst>
          </p:cNvPr>
          <p:cNvCxnSpPr>
            <a:cxnSpLocks/>
          </p:cNvCxnSpPr>
          <p:nvPr/>
        </p:nvCxnSpPr>
        <p:spPr>
          <a:xfrm>
            <a:off x="4698123" y="4329318"/>
            <a:ext cx="747637" cy="278480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71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4" grpId="0" animBg="1"/>
      <p:bldP spid="15" grpId="0"/>
      <p:bldP spid="17" grpId="0" animBg="1"/>
      <p:bldP spid="18" grpId="0"/>
      <p:bldP spid="5" grpId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85" y="2565545"/>
            <a:ext cx="8598430" cy="1600909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Text response: example 1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18</a:t>
            </a:fld>
            <a:endParaRPr lang="nl-BE" dirty="0"/>
          </a:p>
        </p:txBody>
      </p:sp>
      <p:sp>
        <p:nvSpPr>
          <p:cNvPr id="8" name="Ovaal 7"/>
          <p:cNvSpPr/>
          <p:nvPr/>
        </p:nvSpPr>
        <p:spPr>
          <a:xfrm>
            <a:off x="6662057" y="3091286"/>
            <a:ext cx="2010804" cy="578733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kstvak 8"/>
          <p:cNvSpPr txBox="1"/>
          <p:nvPr/>
        </p:nvSpPr>
        <p:spPr>
          <a:xfrm>
            <a:off x="6572267" y="1328610"/>
            <a:ext cx="1860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A0AE"/>
                </a:solidFill>
              </a:rPr>
              <a:t>answer from server in text format</a:t>
            </a:r>
          </a:p>
        </p:txBody>
      </p:sp>
      <p:cxnSp>
        <p:nvCxnSpPr>
          <p:cNvPr id="10" name="Rechte verbindingslijn met pijl 9"/>
          <p:cNvCxnSpPr>
            <a:stCxn id="8" idx="0"/>
          </p:cNvCxnSpPr>
          <p:nvPr/>
        </p:nvCxnSpPr>
        <p:spPr>
          <a:xfrm flipV="1">
            <a:off x="7667459" y="2251940"/>
            <a:ext cx="0" cy="839346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0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In web browser </a:t>
            </a:r>
          </a:p>
          <a:p>
            <a:pPr marL="0" indent="0">
              <a:buNone/>
            </a:pPr>
            <a:r>
              <a:rPr lang="en-US" noProof="0" dirty="0"/>
              <a:t>	=&gt; 	</a:t>
            </a:r>
            <a:r>
              <a:rPr lang="en-US" dirty="0"/>
              <a:t>caching of data to avoid new request 			to server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	=&gt;	</a:t>
            </a:r>
            <a:r>
              <a:rPr lang="en-US" dirty="0"/>
              <a:t>XHR requests to the same URL 				sometimes cashed by browser!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r>
              <a:rPr lang="en-US" dirty="0"/>
              <a:t>Make URL unique:</a:t>
            </a:r>
            <a:endParaRPr lang="en-US" noProof="0" dirty="0"/>
          </a:p>
          <a:p>
            <a:pPr lvl="1"/>
            <a:r>
              <a:rPr lang="en-US" noProof="0" dirty="0" err="1"/>
              <a:t>var</a:t>
            </a:r>
            <a:r>
              <a:rPr lang="en-US" noProof="0" dirty="0"/>
              <a:t> </a:t>
            </a:r>
            <a:r>
              <a:rPr lang="en-US" noProof="0" dirty="0" err="1"/>
              <a:t>url</a:t>
            </a:r>
            <a:r>
              <a:rPr lang="en-US" noProof="0" dirty="0"/>
              <a:t> = "</a:t>
            </a:r>
            <a:r>
              <a:rPr lang="en-US" noProof="0" dirty="0" err="1"/>
              <a:t>text.txt?t</a:t>
            </a:r>
            <a:r>
              <a:rPr lang="en-US" dirty="0"/>
              <a:t>=" </a:t>
            </a:r>
            <a:r>
              <a:rPr lang="en-US" noProof="0" dirty="0"/>
              <a:t>+ </a:t>
            </a:r>
            <a:r>
              <a:rPr lang="en-US" noProof="0" dirty="0" err="1"/>
              <a:t>Math.random</a:t>
            </a:r>
            <a:r>
              <a:rPr lang="en-US" noProof="0" dirty="0"/>
              <a:t>();</a:t>
            </a:r>
          </a:p>
          <a:p>
            <a:pPr lvl="1"/>
            <a:r>
              <a:rPr lang="en-US" noProof="0" dirty="0" err="1"/>
              <a:t>var</a:t>
            </a:r>
            <a:r>
              <a:rPr lang="en-US" noProof="0" dirty="0"/>
              <a:t> </a:t>
            </a:r>
            <a:r>
              <a:rPr lang="en-US" noProof="0" dirty="0" err="1"/>
              <a:t>url</a:t>
            </a:r>
            <a:r>
              <a:rPr lang="en-US" noProof="0" dirty="0"/>
              <a:t> = </a:t>
            </a:r>
            <a:r>
              <a:rPr lang="en-US" dirty="0"/>
              <a:t>"</a:t>
            </a:r>
            <a:r>
              <a:rPr lang="en-US" dirty="0" err="1"/>
              <a:t>text.txt?t</a:t>
            </a:r>
            <a:r>
              <a:rPr lang="en-US" dirty="0"/>
              <a:t>=" </a:t>
            </a:r>
            <a:r>
              <a:rPr lang="en-US" noProof="0" dirty="0"/>
              <a:t>+ new Date().</a:t>
            </a:r>
            <a:r>
              <a:rPr lang="en-US" noProof="0" dirty="0" err="1"/>
              <a:t>getTime</a:t>
            </a:r>
            <a:r>
              <a:rPr lang="en-US" noProof="0" dirty="0"/>
              <a:t>();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Caching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40169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 and show </a:t>
            </a:r>
            <a:r>
              <a:rPr lang="en-US" noProof="0" dirty="0">
                <a:hlinkClick r:id="rId2" action="ppaction://hlinkfile"/>
              </a:rPr>
              <a:t>text file</a:t>
            </a:r>
            <a:endParaRPr lang="en-US" noProof="0" dirty="0"/>
          </a:p>
          <a:p>
            <a:r>
              <a:rPr lang="en-US" noProof="0" dirty="0">
                <a:hlinkClick r:id="rId3"/>
              </a:rPr>
              <a:t>result</a:t>
            </a:r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sz="2400" noProof="0" dirty="0"/>
              <a:t>In the body: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Text response: example 2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20</a:t>
            </a:fld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40" y="3579510"/>
            <a:ext cx="8524092" cy="1831263"/>
          </a:xfrm>
          <a:prstGeom prst="rect">
            <a:avLst/>
          </a:prstGeom>
        </p:spPr>
      </p:pic>
      <p:sp>
        <p:nvSpPr>
          <p:cNvPr id="8" name="Ovaal 7"/>
          <p:cNvSpPr/>
          <p:nvPr/>
        </p:nvSpPr>
        <p:spPr>
          <a:xfrm>
            <a:off x="1513083" y="4578875"/>
            <a:ext cx="2371397" cy="357509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1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14" y="1269540"/>
            <a:ext cx="7530282" cy="4687904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Text response: example 2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21</a:t>
            </a:fld>
            <a:endParaRPr lang="nl-BE" dirty="0"/>
          </a:p>
        </p:txBody>
      </p:sp>
      <p:sp>
        <p:nvSpPr>
          <p:cNvPr id="9" name="Ovaal 8"/>
          <p:cNvSpPr/>
          <p:nvPr/>
        </p:nvSpPr>
        <p:spPr>
          <a:xfrm>
            <a:off x="531459" y="1649303"/>
            <a:ext cx="4081791" cy="427003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kstvak 9"/>
          <p:cNvSpPr txBox="1"/>
          <p:nvPr/>
        </p:nvSpPr>
        <p:spPr>
          <a:xfrm>
            <a:off x="5441990" y="1329092"/>
            <a:ext cx="36976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A0AE"/>
                </a:solidFill>
              </a:rPr>
              <a:t>create </a:t>
            </a:r>
            <a:r>
              <a:rPr lang="en-US" dirty="0" err="1">
                <a:solidFill>
                  <a:srgbClr val="00A0AE"/>
                </a:solidFill>
              </a:rPr>
              <a:t>XMLHttpRequest</a:t>
            </a:r>
            <a:r>
              <a:rPr lang="en-US" dirty="0">
                <a:solidFill>
                  <a:srgbClr val="00A0AE"/>
                </a:solidFill>
              </a:rPr>
              <a:t> object</a:t>
            </a:r>
          </a:p>
        </p:txBody>
      </p:sp>
      <p:cxnSp>
        <p:nvCxnSpPr>
          <p:cNvPr id="12" name="Rechte verbindingslijn met pijl 11"/>
          <p:cNvCxnSpPr/>
          <p:nvPr/>
        </p:nvCxnSpPr>
        <p:spPr>
          <a:xfrm flipV="1">
            <a:off x="4613250" y="1526762"/>
            <a:ext cx="750926" cy="330510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al 13"/>
          <p:cNvSpPr/>
          <p:nvPr/>
        </p:nvSpPr>
        <p:spPr>
          <a:xfrm>
            <a:off x="657858" y="4443637"/>
            <a:ext cx="4706318" cy="870883"/>
          </a:xfrm>
          <a:prstGeom prst="ellipse">
            <a:avLst/>
          </a:prstGeom>
          <a:noFill/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kstvak 14"/>
          <p:cNvSpPr txBox="1"/>
          <p:nvPr/>
        </p:nvSpPr>
        <p:spPr>
          <a:xfrm>
            <a:off x="6093292" y="4694412"/>
            <a:ext cx="224689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configure and </a:t>
            </a:r>
          </a:p>
          <a:p>
            <a:r>
              <a:rPr lang="en-US" dirty="0">
                <a:solidFill>
                  <a:srgbClr val="EC4B2F"/>
                </a:solidFill>
              </a:rPr>
              <a:t>send </a:t>
            </a:r>
            <a:r>
              <a:rPr lang="en-US" dirty="0" err="1">
                <a:solidFill>
                  <a:srgbClr val="EC4B2F"/>
                </a:solidFill>
              </a:rPr>
              <a:t>HttpRequest</a:t>
            </a:r>
            <a:endParaRPr lang="en-US" dirty="0">
              <a:solidFill>
                <a:srgbClr val="EC4B2F"/>
              </a:solidFill>
            </a:endParaRPr>
          </a:p>
        </p:txBody>
      </p:sp>
      <p:cxnSp>
        <p:nvCxnSpPr>
          <p:cNvPr id="16" name="Rechte verbindingslijn met pijl 15"/>
          <p:cNvCxnSpPr/>
          <p:nvPr/>
        </p:nvCxnSpPr>
        <p:spPr>
          <a:xfrm>
            <a:off x="5364176" y="4879078"/>
            <a:ext cx="729116" cy="1"/>
          </a:xfrm>
          <a:prstGeom prst="straightConnector1">
            <a:avLst/>
          </a:prstGeom>
          <a:ln w="28575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al 16"/>
          <p:cNvSpPr/>
          <p:nvPr/>
        </p:nvSpPr>
        <p:spPr>
          <a:xfrm>
            <a:off x="764545" y="2970081"/>
            <a:ext cx="3130447" cy="35566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kstvak 17"/>
          <p:cNvSpPr txBox="1"/>
          <p:nvPr/>
        </p:nvSpPr>
        <p:spPr>
          <a:xfrm>
            <a:off x="4499019" y="2609030"/>
            <a:ext cx="306243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add </a:t>
            </a:r>
            <a:r>
              <a:rPr lang="en-US" dirty="0" err="1">
                <a:solidFill>
                  <a:srgbClr val="00B050"/>
                </a:solidFill>
              </a:rPr>
              <a:t>eventlistener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19" name="Rechte verbindingslijn met pijl 18"/>
          <p:cNvCxnSpPr/>
          <p:nvPr/>
        </p:nvCxnSpPr>
        <p:spPr>
          <a:xfrm flipV="1">
            <a:off x="3595723" y="2787742"/>
            <a:ext cx="903296" cy="25277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al 19"/>
          <p:cNvSpPr/>
          <p:nvPr/>
        </p:nvSpPr>
        <p:spPr>
          <a:xfrm>
            <a:off x="3172008" y="3594924"/>
            <a:ext cx="2192168" cy="391180"/>
          </a:xfrm>
          <a:prstGeom prst="ellipse">
            <a:avLst/>
          </a:prstGeom>
          <a:noFill/>
          <a:ln>
            <a:solidFill>
              <a:srgbClr val="CC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kstvak 20"/>
          <p:cNvSpPr txBox="1"/>
          <p:nvPr/>
        </p:nvSpPr>
        <p:spPr>
          <a:xfrm>
            <a:off x="4988713" y="4074305"/>
            <a:ext cx="41282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C66FF"/>
                </a:solidFill>
              </a:rPr>
              <a:t>answer from server in text format</a:t>
            </a:r>
          </a:p>
        </p:txBody>
      </p:sp>
      <p:cxnSp>
        <p:nvCxnSpPr>
          <p:cNvPr id="22" name="Rechte verbindingslijn met pijl 21"/>
          <p:cNvCxnSpPr/>
          <p:nvPr/>
        </p:nvCxnSpPr>
        <p:spPr>
          <a:xfrm>
            <a:off x="4268092" y="3991560"/>
            <a:ext cx="720621" cy="263722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72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Text response: example 2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22</a:t>
            </a:fld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38" y="1526292"/>
            <a:ext cx="9006356" cy="388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66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98" y="3476383"/>
            <a:ext cx="8452457" cy="1913764"/>
          </a:xfrm>
          <a:prstGeom prst="rect">
            <a:avLst/>
          </a:prstGeom>
        </p:spPr>
      </p:pic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and show </a:t>
            </a:r>
            <a:r>
              <a:rPr lang="en-US" dirty="0">
                <a:hlinkClick r:id="rId3" action="ppaction://hlinkfile"/>
              </a:rPr>
              <a:t>text file</a:t>
            </a:r>
            <a:endParaRPr lang="en-US" dirty="0"/>
          </a:p>
          <a:p>
            <a:r>
              <a:rPr lang="en-US" noProof="0" dirty="0">
                <a:hlinkClick r:id="rId4"/>
              </a:rPr>
              <a:t>result</a:t>
            </a:r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sz="2400" noProof="0" dirty="0"/>
              <a:t>In the body: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Text response: example 3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23</a:t>
            </a:fld>
            <a:endParaRPr lang="nl-BE" dirty="0"/>
          </a:p>
        </p:txBody>
      </p:sp>
      <p:sp>
        <p:nvSpPr>
          <p:cNvPr id="8" name="Ovaal 7"/>
          <p:cNvSpPr/>
          <p:nvPr/>
        </p:nvSpPr>
        <p:spPr>
          <a:xfrm>
            <a:off x="1561210" y="4551374"/>
            <a:ext cx="2233894" cy="343759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7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2 options:</a:t>
            </a:r>
          </a:p>
          <a:p>
            <a:endParaRPr lang="en-US" noProof="0" dirty="0"/>
          </a:p>
          <a:p>
            <a:pPr lvl="1"/>
            <a:r>
              <a:rPr lang="en-US" noProof="0" dirty="0"/>
              <a:t>Text 	=&gt;	</a:t>
            </a:r>
            <a:r>
              <a:rPr lang="en-US" noProof="0" dirty="0" err="1"/>
              <a:t>responseText</a:t>
            </a:r>
            <a:endParaRPr lang="en-US" noProof="0" dirty="0"/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XML 	=&gt;	</a:t>
            </a:r>
            <a:r>
              <a:rPr lang="en-US" noProof="0" dirty="0" err="1"/>
              <a:t>responseXML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Server response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5138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C4B2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C4B2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3436126"/>
            <a:ext cx="8171038" cy="2091525"/>
          </a:xfrm>
          <a:prstGeom prst="rect">
            <a:avLst/>
          </a:prstGeom>
        </p:spPr>
      </p:pic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 and show </a:t>
            </a:r>
            <a:r>
              <a:rPr lang="en-US" noProof="0" dirty="0">
                <a:hlinkClick r:id="rId3" action="ppaction://hlinkpres?slideindex=1&amp;slidetitle="/>
              </a:rPr>
              <a:t>XML</a:t>
            </a:r>
            <a:endParaRPr lang="en-US" noProof="0" dirty="0"/>
          </a:p>
          <a:p>
            <a:r>
              <a:rPr lang="en-US" noProof="0" dirty="0">
                <a:hlinkClick r:id="rId4"/>
              </a:rPr>
              <a:t>result</a:t>
            </a:r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sz="2400" noProof="0" dirty="0"/>
              <a:t>In the body: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XML response: example 1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25</a:t>
            </a:fld>
            <a:endParaRPr lang="nl-BE" dirty="0"/>
          </a:p>
        </p:txBody>
      </p:sp>
      <p:sp>
        <p:nvSpPr>
          <p:cNvPr id="8" name="Ovaal 7"/>
          <p:cNvSpPr/>
          <p:nvPr/>
        </p:nvSpPr>
        <p:spPr>
          <a:xfrm>
            <a:off x="1408464" y="4448247"/>
            <a:ext cx="2352264" cy="316257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7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81" y="1455051"/>
            <a:ext cx="7882360" cy="4316881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XML response: example 1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26</a:t>
            </a:fld>
            <a:endParaRPr lang="nl-BE" dirty="0"/>
          </a:p>
        </p:txBody>
      </p:sp>
      <p:sp>
        <p:nvSpPr>
          <p:cNvPr id="9" name="Ovaal 8"/>
          <p:cNvSpPr/>
          <p:nvPr/>
        </p:nvSpPr>
        <p:spPr>
          <a:xfrm>
            <a:off x="714552" y="1839990"/>
            <a:ext cx="3245556" cy="373822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kstvak 9"/>
          <p:cNvSpPr txBox="1"/>
          <p:nvPr/>
        </p:nvSpPr>
        <p:spPr>
          <a:xfrm>
            <a:off x="4662410" y="1426597"/>
            <a:ext cx="36976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A0AE"/>
                </a:solidFill>
              </a:rPr>
              <a:t>create </a:t>
            </a:r>
            <a:r>
              <a:rPr lang="en-US" dirty="0" err="1">
                <a:solidFill>
                  <a:srgbClr val="00A0AE"/>
                </a:solidFill>
              </a:rPr>
              <a:t>XMLHttpRequest</a:t>
            </a:r>
            <a:r>
              <a:rPr lang="en-US" dirty="0">
                <a:solidFill>
                  <a:srgbClr val="00A0AE"/>
                </a:solidFill>
              </a:rPr>
              <a:t> object</a:t>
            </a:r>
          </a:p>
        </p:txBody>
      </p:sp>
      <p:cxnSp>
        <p:nvCxnSpPr>
          <p:cNvPr id="12" name="Rechte verbindingslijn met pijl 11"/>
          <p:cNvCxnSpPr/>
          <p:nvPr/>
        </p:nvCxnSpPr>
        <p:spPr>
          <a:xfrm flipV="1">
            <a:off x="3911484" y="1622290"/>
            <a:ext cx="750926" cy="330510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al 13"/>
          <p:cNvSpPr/>
          <p:nvPr/>
        </p:nvSpPr>
        <p:spPr>
          <a:xfrm>
            <a:off x="1320642" y="3941033"/>
            <a:ext cx="4003543" cy="799724"/>
          </a:xfrm>
          <a:prstGeom prst="ellipse">
            <a:avLst/>
          </a:prstGeom>
          <a:noFill/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kstvak 14"/>
          <p:cNvSpPr txBox="1"/>
          <p:nvPr/>
        </p:nvSpPr>
        <p:spPr>
          <a:xfrm>
            <a:off x="6075111" y="4340895"/>
            <a:ext cx="314568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configure and send </a:t>
            </a:r>
            <a:r>
              <a:rPr lang="en-US" dirty="0" err="1">
                <a:solidFill>
                  <a:srgbClr val="EC4B2F"/>
                </a:solidFill>
              </a:rPr>
              <a:t>HttpRequest</a:t>
            </a:r>
            <a:endParaRPr lang="en-US" dirty="0">
              <a:solidFill>
                <a:srgbClr val="EC4B2F"/>
              </a:solidFill>
            </a:endParaRPr>
          </a:p>
        </p:txBody>
      </p:sp>
      <p:cxnSp>
        <p:nvCxnSpPr>
          <p:cNvPr id="16" name="Rechte verbindingslijn met pijl 15"/>
          <p:cNvCxnSpPr/>
          <p:nvPr/>
        </p:nvCxnSpPr>
        <p:spPr>
          <a:xfrm>
            <a:off x="5324185" y="4340895"/>
            <a:ext cx="750926" cy="177459"/>
          </a:xfrm>
          <a:prstGeom prst="straightConnector1">
            <a:avLst/>
          </a:prstGeom>
          <a:ln w="28575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al 16"/>
          <p:cNvSpPr/>
          <p:nvPr/>
        </p:nvSpPr>
        <p:spPr>
          <a:xfrm>
            <a:off x="1413431" y="3533847"/>
            <a:ext cx="4581733" cy="46751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kstvak 17"/>
          <p:cNvSpPr txBox="1"/>
          <p:nvPr/>
        </p:nvSpPr>
        <p:spPr>
          <a:xfrm>
            <a:off x="5802659" y="3115964"/>
            <a:ext cx="32541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add </a:t>
            </a:r>
            <a:r>
              <a:rPr lang="en-US" dirty="0" err="1">
                <a:solidFill>
                  <a:srgbClr val="00B050"/>
                </a:solidFill>
              </a:rPr>
              <a:t>eventlistener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19" name="Rechte verbindingslijn met pijl 18"/>
          <p:cNvCxnSpPr>
            <a:cxnSpLocks/>
          </p:cNvCxnSpPr>
          <p:nvPr/>
        </p:nvCxnSpPr>
        <p:spPr>
          <a:xfrm flipV="1">
            <a:off x="5324185" y="3330876"/>
            <a:ext cx="478474" cy="28159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91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783120"/>
            <a:ext cx="8224296" cy="1837006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XML response: example 1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27</a:t>
            </a:fld>
            <a:endParaRPr lang="nl-BE" dirty="0"/>
          </a:p>
        </p:txBody>
      </p:sp>
      <p:sp>
        <p:nvSpPr>
          <p:cNvPr id="8" name="Ovaal 7"/>
          <p:cNvSpPr/>
          <p:nvPr/>
        </p:nvSpPr>
        <p:spPr>
          <a:xfrm>
            <a:off x="2540648" y="3330989"/>
            <a:ext cx="1625910" cy="281656"/>
          </a:xfrm>
          <a:prstGeom prst="ellipse">
            <a:avLst/>
          </a:prstGeom>
          <a:noFill/>
          <a:ln>
            <a:solidFill>
              <a:srgbClr val="CC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kstvak 8"/>
          <p:cNvSpPr txBox="1"/>
          <p:nvPr/>
        </p:nvSpPr>
        <p:spPr>
          <a:xfrm>
            <a:off x="4779373" y="2528738"/>
            <a:ext cx="4128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C66FF"/>
                </a:solidFill>
              </a:rPr>
              <a:t>answer from server in XML format</a:t>
            </a:r>
          </a:p>
        </p:txBody>
      </p:sp>
      <p:cxnSp>
        <p:nvCxnSpPr>
          <p:cNvPr id="10" name="Rechte verbindingslijn met pijl 9"/>
          <p:cNvCxnSpPr>
            <a:stCxn id="8" idx="6"/>
          </p:cNvCxnSpPr>
          <p:nvPr/>
        </p:nvCxnSpPr>
        <p:spPr>
          <a:xfrm flipV="1">
            <a:off x="4166558" y="2923784"/>
            <a:ext cx="2018582" cy="548033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74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3425440"/>
            <a:ext cx="8229451" cy="1909705"/>
          </a:xfrm>
          <a:prstGeom prst="rect">
            <a:avLst/>
          </a:prstGeom>
        </p:spPr>
      </p:pic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 </a:t>
            </a:r>
            <a:r>
              <a:rPr lang="en-US" noProof="0" dirty="0">
                <a:hlinkClick r:id="rId3" action="ppaction://hlinkpres?slideindex=1&amp;slidetitle="/>
              </a:rPr>
              <a:t>XML</a:t>
            </a:r>
            <a:r>
              <a:rPr lang="en-US" noProof="0" dirty="0"/>
              <a:t> and show in HTML table</a:t>
            </a:r>
          </a:p>
          <a:p>
            <a:r>
              <a:rPr lang="en-US" noProof="0" dirty="0">
                <a:hlinkClick r:id="rId4"/>
              </a:rPr>
              <a:t>result</a:t>
            </a:r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r>
              <a:rPr lang="en-US" sz="2400" noProof="0" dirty="0"/>
              <a:t>In de body: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XML response: example 2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28</a:t>
            </a:fld>
            <a:endParaRPr lang="nl-BE" dirty="0"/>
          </a:p>
        </p:txBody>
      </p:sp>
      <p:sp>
        <p:nvSpPr>
          <p:cNvPr id="8" name="Ovaal 7"/>
          <p:cNvSpPr/>
          <p:nvPr/>
        </p:nvSpPr>
        <p:spPr>
          <a:xfrm>
            <a:off x="1497842" y="4368398"/>
            <a:ext cx="2242260" cy="286103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5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472758"/>
            <a:ext cx="8353092" cy="4280361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XML response: example 2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29</a:t>
            </a:fld>
            <a:endParaRPr lang="nl-BE" dirty="0"/>
          </a:p>
        </p:txBody>
      </p:sp>
      <p:sp>
        <p:nvSpPr>
          <p:cNvPr id="9" name="Ovaal 8"/>
          <p:cNvSpPr/>
          <p:nvPr/>
        </p:nvSpPr>
        <p:spPr>
          <a:xfrm>
            <a:off x="539999" y="1821176"/>
            <a:ext cx="4113023" cy="461386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kstvak 9"/>
          <p:cNvSpPr txBox="1"/>
          <p:nvPr/>
        </p:nvSpPr>
        <p:spPr>
          <a:xfrm>
            <a:off x="4895645" y="1438031"/>
            <a:ext cx="377936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A0AE"/>
                </a:solidFill>
              </a:rPr>
              <a:t>create </a:t>
            </a:r>
            <a:r>
              <a:rPr lang="en-US" dirty="0" err="1">
                <a:solidFill>
                  <a:srgbClr val="00A0AE"/>
                </a:solidFill>
              </a:rPr>
              <a:t>XMLHttpRequest</a:t>
            </a:r>
            <a:r>
              <a:rPr lang="en-US" dirty="0">
                <a:solidFill>
                  <a:srgbClr val="00A0AE"/>
                </a:solidFill>
              </a:rPr>
              <a:t> object</a:t>
            </a:r>
          </a:p>
        </p:txBody>
      </p:sp>
      <p:cxnSp>
        <p:nvCxnSpPr>
          <p:cNvPr id="12" name="Rechte verbindingslijn met pijl 11"/>
          <p:cNvCxnSpPr/>
          <p:nvPr/>
        </p:nvCxnSpPr>
        <p:spPr>
          <a:xfrm flipV="1">
            <a:off x="4339086" y="1648527"/>
            <a:ext cx="556559" cy="262775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al 13"/>
          <p:cNvSpPr/>
          <p:nvPr/>
        </p:nvSpPr>
        <p:spPr>
          <a:xfrm>
            <a:off x="896488" y="4109547"/>
            <a:ext cx="4088023" cy="874964"/>
          </a:xfrm>
          <a:prstGeom prst="ellipse">
            <a:avLst/>
          </a:prstGeom>
          <a:noFill/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kstvak 14"/>
          <p:cNvSpPr txBox="1"/>
          <p:nvPr/>
        </p:nvSpPr>
        <p:spPr>
          <a:xfrm>
            <a:off x="5812982" y="4508996"/>
            <a:ext cx="2256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configure and send </a:t>
            </a:r>
            <a:r>
              <a:rPr lang="en-US" dirty="0" err="1">
                <a:solidFill>
                  <a:srgbClr val="EC4B2F"/>
                </a:solidFill>
              </a:rPr>
              <a:t>HttpRequest</a:t>
            </a:r>
            <a:endParaRPr lang="en-US" dirty="0">
              <a:solidFill>
                <a:srgbClr val="EC4B2F"/>
              </a:solidFill>
            </a:endParaRPr>
          </a:p>
        </p:txBody>
      </p:sp>
      <p:cxnSp>
        <p:nvCxnSpPr>
          <p:cNvPr id="16" name="Rechte verbindingslijn met pijl 15"/>
          <p:cNvCxnSpPr/>
          <p:nvPr/>
        </p:nvCxnSpPr>
        <p:spPr>
          <a:xfrm>
            <a:off x="4984511" y="4591283"/>
            <a:ext cx="831949" cy="102379"/>
          </a:xfrm>
          <a:prstGeom prst="straightConnector1">
            <a:avLst/>
          </a:prstGeom>
          <a:ln w="28575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al 16"/>
          <p:cNvSpPr/>
          <p:nvPr/>
        </p:nvSpPr>
        <p:spPr>
          <a:xfrm>
            <a:off x="894164" y="3738287"/>
            <a:ext cx="5059749" cy="50592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kstvak 17"/>
          <p:cNvSpPr txBox="1"/>
          <p:nvPr/>
        </p:nvSpPr>
        <p:spPr>
          <a:xfrm>
            <a:off x="6691080" y="3806581"/>
            <a:ext cx="229479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add </a:t>
            </a:r>
            <a:r>
              <a:rPr lang="en-US" dirty="0" err="1">
                <a:solidFill>
                  <a:srgbClr val="00B050"/>
                </a:solidFill>
              </a:rPr>
              <a:t>eventlistener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19" name="Rechte verbindingslijn met pijl 18"/>
          <p:cNvCxnSpPr/>
          <p:nvPr/>
        </p:nvCxnSpPr>
        <p:spPr>
          <a:xfrm>
            <a:off x="5953913" y="4006136"/>
            <a:ext cx="775619" cy="756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31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/>
      <p:bldP spid="17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4" y="1928244"/>
            <a:ext cx="8982196" cy="3370495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XML response: example 2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30</a:t>
            </a:fld>
            <a:endParaRPr lang="nl-BE" dirty="0"/>
          </a:p>
        </p:txBody>
      </p:sp>
      <p:sp>
        <p:nvSpPr>
          <p:cNvPr id="8" name="Ovaal 7"/>
          <p:cNvSpPr/>
          <p:nvPr/>
        </p:nvSpPr>
        <p:spPr>
          <a:xfrm>
            <a:off x="1075623" y="2276116"/>
            <a:ext cx="1581852" cy="209909"/>
          </a:xfrm>
          <a:prstGeom prst="ellipse">
            <a:avLst/>
          </a:prstGeom>
          <a:noFill/>
          <a:ln>
            <a:solidFill>
              <a:srgbClr val="CC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kstvak 8"/>
          <p:cNvSpPr txBox="1"/>
          <p:nvPr/>
        </p:nvSpPr>
        <p:spPr>
          <a:xfrm>
            <a:off x="4720115" y="1642424"/>
            <a:ext cx="4128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C66FF"/>
                </a:solidFill>
              </a:rPr>
              <a:t>answer from server in XML format</a:t>
            </a:r>
          </a:p>
        </p:txBody>
      </p:sp>
      <p:cxnSp>
        <p:nvCxnSpPr>
          <p:cNvPr id="10" name="Rechte verbindingslijn met pijl 9"/>
          <p:cNvCxnSpPr>
            <a:stCxn id="8" idx="6"/>
          </p:cNvCxnSpPr>
          <p:nvPr/>
        </p:nvCxnSpPr>
        <p:spPr>
          <a:xfrm flipV="1">
            <a:off x="2657475" y="1868913"/>
            <a:ext cx="2062640" cy="512158"/>
          </a:xfrm>
          <a:prstGeom prst="straightConnector1">
            <a:avLst/>
          </a:prstGeom>
          <a:ln w="28575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40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example 3:</a:t>
            </a:r>
          </a:p>
          <a:p>
            <a:pPr lvl="1"/>
            <a:r>
              <a:rPr lang="en-US" noProof="0" dirty="0"/>
              <a:t>Read </a:t>
            </a:r>
            <a:r>
              <a:rPr lang="en-US" noProof="0" dirty="0">
                <a:hlinkClick r:id="rId2" action="ppaction://hlinkpres?slideindex=1&amp;slidetitle="/>
              </a:rPr>
              <a:t>XML</a:t>
            </a:r>
            <a:r>
              <a:rPr lang="en-US" noProof="0" dirty="0"/>
              <a:t> and show as HTML text</a:t>
            </a:r>
          </a:p>
          <a:p>
            <a:pPr lvl="1"/>
            <a:r>
              <a:rPr lang="en-US" noProof="0" dirty="0">
                <a:hlinkClick r:id="rId3"/>
              </a:rPr>
              <a:t>result</a:t>
            </a:r>
            <a:endParaRPr lang="en-US" noProof="0" dirty="0"/>
          </a:p>
          <a:p>
            <a:pPr lvl="1"/>
            <a:endParaRPr lang="en-US" noProof="0" dirty="0"/>
          </a:p>
          <a:p>
            <a:r>
              <a:rPr lang="en-US" noProof="0" dirty="0"/>
              <a:t>example 4:</a:t>
            </a:r>
          </a:p>
          <a:p>
            <a:pPr lvl="1"/>
            <a:r>
              <a:rPr lang="en-US" noProof="0" dirty="0"/>
              <a:t>Read </a:t>
            </a:r>
            <a:r>
              <a:rPr lang="en-US" noProof="0" dirty="0">
                <a:hlinkClick r:id="rId4" action="ppaction://hlinkpres?slideindex=1&amp;slidetitle="/>
              </a:rPr>
              <a:t>XML</a:t>
            </a:r>
            <a:r>
              <a:rPr lang="en-US" noProof="0" dirty="0"/>
              <a:t> and show as HTML list</a:t>
            </a:r>
          </a:p>
          <a:p>
            <a:pPr lvl="1"/>
            <a:r>
              <a:rPr lang="en-US" noProof="0" dirty="0">
                <a:hlinkClick r:id="rId5"/>
              </a:rPr>
              <a:t>result</a:t>
            </a: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XML response: example 3 &amp; 4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184572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hlinkClick r:id="rId2"/>
              </a:rPr>
              <a:t>Search</a:t>
            </a:r>
            <a:r>
              <a:rPr lang="en-US" noProof="0" dirty="0"/>
              <a:t> function for file of addresses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change page dynamically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32</a:t>
            </a:fld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855" y="2274470"/>
            <a:ext cx="5418290" cy="2309060"/>
          </a:xfrm>
          <a:prstGeom prst="rect">
            <a:avLst/>
          </a:prstGeom>
          <a:ln>
            <a:solidFill>
              <a:srgbClr val="00A0AE"/>
            </a:solidFill>
          </a:ln>
        </p:spPr>
      </p:pic>
    </p:spTree>
    <p:extLst>
      <p:ext uri="{BB962C8B-B14F-4D97-AF65-F5344CB8AC3E}">
        <p14:creationId xmlns:p14="http://schemas.microsoft.com/office/powerpoint/2010/main" val="3765107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4765721"/>
          </a:xfrm>
        </p:spPr>
        <p:txBody>
          <a:bodyPr>
            <a:normAutofit/>
          </a:bodyPr>
          <a:lstStyle/>
          <a:p>
            <a:r>
              <a:rPr lang="en-US" dirty="0"/>
              <a:t>Problem: entire xml file sent to user</a:t>
            </a:r>
            <a:endParaRPr lang="en-US" noProof="0" dirty="0"/>
          </a:p>
          <a:p>
            <a:r>
              <a:rPr lang="en-US" dirty="0"/>
              <a:t>Better: asking detailed questions to the server</a:t>
            </a:r>
          </a:p>
          <a:p>
            <a:endParaRPr lang="en-US" noProof="0" dirty="0"/>
          </a:p>
          <a:p>
            <a:r>
              <a:rPr lang="en-US" noProof="0" dirty="0"/>
              <a:t>Remark: sandbox system: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Data requested by the </a:t>
            </a:r>
            <a:r>
              <a:rPr lang="en-US" dirty="0" err="1"/>
              <a:t>XMLHttpRequest</a:t>
            </a:r>
            <a:r>
              <a:rPr lang="en-US" dirty="0"/>
              <a:t> object must be located in the same domain from which the calling script originates.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Starting everything from localhost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AJAX and PHP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242711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url</a:t>
            </a:r>
            <a:r>
              <a:rPr lang="en-US" dirty="0"/>
              <a:t> contains address of </a:t>
            </a:r>
            <a:r>
              <a:rPr lang="en-US" dirty="0" err="1"/>
              <a:t>php</a:t>
            </a:r>
            <a:r>
              <a:rPr lang="en-US" dirty="0"/>
              <a:t> file on server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get: </a:t>
            </a:r>
          </a:p>
          <a:p>
            <a:pPr marL="355600" lvl="1" indent="0">
              <a:buNone/>
            </a:pPr>
            <a:r>
              <a:rPr lang="en-US" noProof="0" dirty="0"/>
              <a:t> 	</a:t>
            </a:r>
            <a:r>
              <a:rPr lang="en-US" dirty="0"/>
              <a:t>add data for </a:t>
            </a:r>
            <a:r>
              <a:rPr lang="en-US" dirty="0" err="1"/>
              <a:t>php</a:t>
            </a:r>
            <a:r>
              <a:rPr lang="en-US" dirty="0"/>
              <a:t> script to </a:t>
            </a:r>
            <a:r>
              <a:rPr lang="en-US" dirty="0" err="1"/>
              <a:t>url</a:t>
            </a:r>
            <a:endParaRPr lang="en-US" noProof="0" dirty="0"/>
          </a:p>
          <a:p>
            <a:pPr marL="355600" lvl="1" indent="0">
              <a:buNone/>
            </a:pPr>
            <a:endParaRPr lang="en-US" noProof="0" dirty="0"/>
          </a:p>
          <a:p>
            <a:r>
              <a:rPr lang="en-US" noProof="0" dirty="0"/>
              <a:t>post: </a:t>
            </a:r>
          </a:p>
          <a:p>
            <a:pPr lvl="1"/>
            <a:r>
              <a:rPr lang="en-US" dirty="0"/>
              <a:t>add additional HTTP header</a:t>
            </a:r>
          </a:p>
          <a:p>
            <a:pPr lvl="1"/>
            <a:r>
              <a:rPr lang="en-US" dirty="0"/>
              <a:t>enclose data for </a:t>
            </a:r>
            <a:r>
              <a:rPr lang="en-US" dirty="0" err="1"/>
              <a:t>php</a:t>
            </a:r>
            <a:r>
              <a:rPr lang="en-US" dirty="0"/>
              <a:t> script in send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AJAX AND PHP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61297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AJAX AND PHP: </a:t>
            </a:r>
            <a:r>
              <a:rPr lang="en-US" noProof="0" dirty="0">
                <a:hlinkClick r:id="rId2"/>
              </a:rPr>
              <a:t>example 1 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35</a:t>
            </a:fld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32" y="1698171"/>
            <a:ext cx="7141737" cy="3437593"/>
          </a:xfrm>
          <a:prstGeom prst="rect">
            <a:avLst/>
          </a:prstGeom>
          <a:ln>
            <a:solidFill>
              <a:srgbClr val="00A0AE"/>
            </a:solidFill>
          </a:ln>
        </p:spPr>
      </p:pic>
    </p:spTree>
    <p:extLst>
      <p:ext uri="{BB962C8B-B14F-4D97-AF65-F5344CB8AC3E}">
        <p14:creationId xmlns:p14="http://schemas.microsoft.com/office/powerpoint/2010/main" val="3082282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AJAX and PHP: </a:t>
            </a:r>
            <a:r>
              <a:rPr lang="en-US" noProof="0" dirty="0">
                <a:hlinkClick r:id="rId2"/>
              </a:rPr>
              <a:t>example 2  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36</a:t>
            </a:fld>
            <a:endParaRPr lang="nl-BE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Search students by address (from database)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82" y="2231479"/>
            <a:ext cx="8001237" cy="3289297"/>
          </a:xfrm>
          <a:prstGeom prst="rect">
            <a:avLst/>
          </a:prstGeom>
          <a:ln>
            <a:solidFill>
              <a:srgbClr val="00A0AE"/>
            </a:solidFill>
          </a:ln>
        </p:spPr>
      </p:pic>
    </p:spTree>
    <p:extLst>
      <p:ext uri="{BB962C8B-B14F-4D97-AF65-F5344CB8AC3E}">
        <p14:creationId xmlns:p14="http://schemas.microsoft.com/office/powerpoint/2010/main" val="9331336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new output with effect?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>
              <a:buFont typeface="Symbol" panose="05050102010706020507" pitchFamily="18" charset="2"/>
              <a:buChar char="Þ"/>
            </a:pPr>
            <a:r>
              <a:rPr lang="en-US" noProof="0" dirty="0"/>
              <a:t>  use jQuery instead of JavaScript</a:t>
            </a:r>
          </a:p>
          <a:p>
            <a:pPr>
              <a:buFont typeface="Symbol" panose="05050102010706020507" pitchFamily="18" charset="2"/>
              <a:buChar char="Þ"/>
            </a:pPr>
            <a:endParaRPr lang="en-US" noProof="0" dirty="0"/>
          </a:p>
          <a:p>
            <a:pPr>
              <a:buFont typeface="Symbol" panose="05050102010706020507" pitchFamily="18" charset="2"/>
              <a:buChar char="Þ"/>
            </a:pPr>
            <a:r>
              <a:rPr lang="en-US" noProof="0" dirty="0"/>
              <a:t>  $.get(), $.post(), .load()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noProof="0" dirty="0"/>
              <a:t>  $.ajax()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Jquery</a:t>
            </a:r>
            <a:r>
              <a:rPr lang="en-US" noProof="0" dirty="0"/>
              <a:t> and ajax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37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945870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800226"/>
          </a:xfrm>
        </p:spPr>
        <p:txBody>
          <a:bodyPr>
            <a:normAutofit/>
          </a:bodyPr>
          <a:lstStyle/>
          <a:p>
            <a:r>
              <a:rPr lang="en-US" noProof="0" dirty="0"/>
              <a:t>Link </a:t>
            </a:r>
            <a:r>
              <a:rPr lang="en-US" noProof="0" dirty="0" err="1"/>
              <a:t>Jquery</a:t>
            </a:r>
            <a:r>
              <a:rPr lang="en-US" noProof="0" dirty="0"/>
              <a:t>: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US" noProof="0" dirty="0"/>
          </a:p>
          <a:p>
            <a:pPr>
              <a:lnSpc>
                <a:spcPct val="100000"/>
              </a:lnSpc>
            </a:pPr>
            <a:r>
              <a:rPr lang="en-US" noProof="0" dirty="0"/>
              <a:t>Wait until page is loaded: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noProof="0" dirty="0"/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Jquery</a:t>
            </a:r>
            <a:r>
              <a:rPr lang="en-US" noProof="0" dirty="0"/>
              <a:t> =&gt; freshen up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38</a:t>
            </a:fld>
            <a:endParaRPr lang="nl-BE" dirty="0"/>
          </a:p>
        </p:txBody>
      </p:sp>
      <p:sp>
        <p:nvSpPr>
          <p:cNvPr id="6" name="Tekstvak 5"/>
          <p:cNvSpPr txBox="1"/>
          <p:nvPr/>
        </p:nvSpPr>
        <p:spPr>
          <a:xfrm>
            <a:off x="755916" y="4113970"/>
            <a:ext cx="4493538" cy="1323439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$(document).ready(function()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//put here the scripts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Tekstvak 6"/>
          <p:cNvSpPr txBox="1"/>
          <p:nvPr/>
        </p:nvSpPr>
        <p:spPr>
          <a:xfrm>
            <a:off x="579879" y="2106467"/>
            <a:ext cx="7984243" cy="92333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="https://ajax.googleapis.com/ajax/libs/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jquery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/1.11.3/jquery.min.js"&gt;&lt;/script&gt;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81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detect event :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jQuery =&gt; </a:t>
            </a:r>
            <a:r>
              <a:rPr lang="en-US" dirty="0"/>
              <a:t>freshen up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39</a:t>
            </a:fld>
            <a:endParaRPr lang="nl-BE" dirty="0"/>
          </a:p>
        </p:txBody>
      </p:sp>
      <p:sp>
        <p:nvSpPr>
          <p:cNvPr id="6" name="Tekstvak 5"/>
          <p:cNvSpPr txBox="1"/>
          <p:nvPr/>
        </p:nvSpPr>
        <p:spPr>
          <a:xfrm>
            <a:off x="720000" y="2042561"/>
            <a:ext cx="7417415" cy="3170099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$(document).ready(function()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$("#search").</a:t>
            </a:r>
            <a:r>
              <a:rPr lang="nl-BE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keyup</a:t>
            </a:r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$</a:t>
            </a:r>
            <a:r>
              <a:rPr lang="nl-BE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searchString</a:t>
            </a:r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$("#search").val();</a:t>
            </a:r>
          </a:p>
          <a:p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console.log($</a:t>
            </a:r>
            <a:r>
              <a:rPr lang="nl-BE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searchString</a:t>
            </a:r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//here </a:t>
            </a:r>
            <a:r>
              <a:rPr lang="nl-BE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follows</a:t>
            </a:r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AJAX call</a:t>
            </a:r>
          </a:p>
          <a:p>
            <a:r>
              <a:rPr lang="nl-BE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});</a:t>
            </a:r>
            <a:endParaRPr lang="en-US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5907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noProof="0" dirty="0"/>
              <a:t>Overview of all possible parameters: </a:t>
            </a:r>
          </a:p>
          <a:p>
            <a:pPr marL="0" indent="0">
              <a:buNone/>
            </a:pPr>
            <a:r>
              <a:rPr lang="en-US" sz="2400" noProof="0" dirty="0">
                <a:hlinkClick r:id="rId2"/>
              </a:rPr>
              <a:t>http://api.jquery.com/jQuery.ajax/</a:t>
            </a:r>
            <a:r>
              <a:rPr lang="en-US" sz="2400" noProof="0" dirty="0"/>
              <a:t> 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$.AJAX() call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40</a:t>
            </a:fld>
            <a:endParaRPr lang="nl-BE" dirty="0"/>
          </a:p>
        </p:txBody>
      </p:sp>
      <p:sp>
        <p:nvSpPr>
          <p:cNvPr id="7" name="Tekstvak 6"/>
          <p:cNvSpPr txBox="1"/>
          <p:nvPr/>
        </p:nvSpPr>
        <p:spPr>
          <a:xfrm>
            <a:off x="360000" y="2473882"/>
            <a:ext cx="6032421" cy="163121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$request = $.ajax({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method:"GET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url:"process_searchAddress.php",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data: {search: $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searchString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9" name="Tekstvak 8"/>
          <p:cNvSpPr txBox="1"/>
          <p:nvPr/>
        </p:nvSpPr>
        <p:spPr>
          <a:xfrm>
            <a:off x="2100683" y="4200784"/>
            <a:ext cx="6801862" cy="163121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$request = $.ajax({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method:"POST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url:"process_searchAddress_POST.php",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data: {search: $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searchString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4809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hlinkClick r:id="rId2"/>
              </a:rPr>
              <a:t>Process</a:t>
            </a:r>
            <a:r>
              <a:rPr lang="en-US" noProof="0" dirty="0"/>
              <a:t> Results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41</a:t>
            </a:fld>
            <a:endParaRPr lang="nl-BE" dirty="0"/>
          </a:p>
        </p:txBody>
      </p:sp>
      <p:sp>
        <p:nvSpPr>
          <p:cNvPr id="7" name="Tekstvak 6"/>
          <p:cNvSpPr txBox="1"/>
          <p:nvPr/>
        </p:nvSpPr>
        <p:spPr>
          <a:xfrm>
            <a:off x="203569" y="1348428"/>
            <a:ext cx="7417415" cy="255454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request.done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(function(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$("#feedback").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fadeOut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("slow", function()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$("#feedback").html(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msg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$("#feedback").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fadeIn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("slow");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});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8" name="Tekstvak 7"/>
          <p:cNvSpPr txBox="1"/>
          <p:nvPr/>
        </p:nvSpPr>
        <p:spPr>
          <a:xfrm>
            <a:off x="203569" y="4247746"/>
            <a:ext cx="8880046" cy="1323439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request.fail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(function(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jqXHR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textStatus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$("#feedback").html("Request failed: "+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textStatus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112000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Thomas More">
  <a:themeElements>
    <a:clrScheme name="Lessius">
      <a:dk1>
        <a:srgbClr val="003C72"/>
      </a:dk1>
      <a:lt1>
        <a:srgbClr val="FFFFFF"/>
      </a:lt1>
      <a:dk2>
        <a:srgbClr val="003C72"/>
      </a:dk2>
      <a:lt2>
        <a:srgbClr val="FFFFFF"/>
      </a:lt2>
      <a:accent1>
        <a:srgbClr val="00A9E5"/>
      </a:accent1>
      <a:accent2>
        <a:srgbClr val="67CBEF"/>
      </a:accent2>
      <a:accent3>
        <a:srgbClr val="CCEEFA"/>
      </a:accent3>
      <a:accent4>
        <a:srgbClr val="406D96"/>
      </a:accent4>
      <a:accent5>
        <a:srgbClr val="7F9DB9"/>
      </a:accent5>
      <a:accent6>
        <a:srgbClr val="BECEDD"/>
      </a:accent6>
      <a:hlink>
        <a:srgbClr val="118EFF"/>
      </a:hlink>
      <a:folHlink>
        <a:srgbClr val="7030A0"/>
      </a:folHlink>
    </a:clrScheme>
    <a:fontScheme name="Lessiu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rgbClr val="00A0A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Thomas More" id="{1332566A-3F18-49D1-80A8-16117EBF29A3}" vid="{6C0FC004-971C-448B-B489-975134365DC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Thomas More</Template>
  <TotalTime>23753</TotalTime>
  <Words>1460</Words>
  <Application>Microsoft Office PowerPoint</Application>
  <PresentationFormat>Diavoorstelling (4:3)</PresentationFormat>
  <Paragraphs>309</Paragraphs>
  <Slides>41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41</vt:i4>
      </vt:variant>
    </vt:vector>
  </HeadingPairs>
  <TitlesOfParts>
    <vt:vector size="48" baseType="lpstr">
      <vt:lpstr>Arial</vt:lpstr>
      <vt:lpstr>Calibri</vt:lpstr>
      <vt:lpstr>Courier New</vt:lpstr>
      <vt:lpstr>Symbol</vt:lpstr>
      <vt:lpstr>Trebuchet MS</vt:lpstr>
      <vt:lpstr>Verdana</vt:lpstr>
      <vt:lpstr>PowerPoint Thomas More</vt:lpstr>
      <vt:lpstr>AJAX</vt:lpstr>
      <vt:lpstr>what?</vt:lpstr>
      <vt:lpstr>PowerPoint-presentatie</vt:lpstr>
      <vt:lpstr>Advantages</vt:lpstr>
      <vt:lpstr>examples</vt:lpstr>
      <vt:lpstr>disadvantages</vt:lpstr>
      <vt:lpstr>PowerPoint-presentatie</vt:lpstr>
      <vt:lpstr>XHR object</vt:lpstr>
      <vt:lpstr>PowerPoint-presentatie</vt:lpstr>
      <vt:lpstr>Send Request to server</vt:lpstr>
      <vt:lpstr>Send Request to server</vt:lpstr>
      <vt:lpstr>PowerPoint-presentatie</vt:lpstr>
      <vt:lpstr>Onreadystatechange event</vt:lpstr>
      <vt:lpstr>readystate property</vt:lpstr>
      <vt:lpstr>Server response</vt:lpstr>
      <vt:lpstr>Text response: example 1</vt:lpstr>
      <vt:lpstr>Text response: example 1</vt:lpstr>
      <vt:lpstr>Text response: example 1</vt:lpstr>
      <vt:lpstr>Caching</vt:lpstr>
      <vt:lpstr>Text response: example 2</vt:lpstr>
      <vt:lpstr>Text response: example 2</vt:lpstr>
      <vt:lpstr>Text response: example 2</vt:lpstr>
      <vt:lpstr>Text response: example 3</vt:lpstr>
      <vt:lpstr>Server response</vt:lpstr>
      <vt:lpstr>XML response: example 1</vt:lpstr>
      <vt:lpstr>XML response: example 1</vt:lpstr>
      <vt:lpstr>XML response: example 1</vt:lpstr>
      <vt:lpstr>XML response: example 2</vt:lpstr>
      <vt:lpstr>XML response: example 2</vt:lpstr>
      <vt:lpstr>XML response: example 2</vt:lpstr>
      <vt:lpstr>XML response: example 3 &amp; 4</vt:lpstr>
      <vt:lpstr>change page dynamically</vt:lpstr>
      <vt:lpstr>AJAX and PHP</vt:lpstr>
      <vt:lpstr>AJAX AND PHP</vt:lpstr>
      <vt:lpstr>AJAX AND PHP: example 1 </vt:lpstr>
      <vt:lpstr>AJAX and PHP: example 2  </vt:lpstr>
      <vt:lpstr>Jquery and ajax</vt:lpstr>
      <vt:lpstr>Jquery =&gt; freshen up</vt:lpstr>
      <vt:lpstr>jQuery =&gt; freshen up</vt:lpstr>
      <vt:lpstr>$.AJAX() call</vt:lpstr>
      <vt:lpstr>Process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Sofie Beerens</dc:creator>
  <cp:lastModifiedBy>Sofie Beerens</cp:lastModifiedBy>
  <cp:revision>567</cp:revision>
  <dcterms:created xsi:type="dcterms:W3CDTF">2015-01-22T07:26:17Z</dcterms:created>
  <dcterms:modified xsi:type="dcterms:W3CDTF">2023-11-21T10:59:50Z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2023-11-21T10:53:39Z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be747cdc-9cde-42d8-b65d-7415e1f3ca28</vt:lpwstr>
  </property>
  <property fmtid="{D5CDD505-2E9C-101B-9397-08002B2CF9AE}" pid="8" name="MSIP_Label_c337be75-dfbb-4261-9834-ac247c7dde13_ContentBits">
    <vt:lpwstr>0</vt:lpwstr>
  </property>
</Properties>
</file>