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</p:sldIdLst>
  <p:sldSz cx="9144000" cy="6858000" type="screen4x3"/>
  <p:notesSz cx="7010400" cy="9296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0AE"/>
    <a:srgbClr val="EC4B2F"/>
    <a:srgbClr val="000000"/>
    <a:srgbClr val="CC66FF"/>
    <a:srgbClr val="0303D7"/>
    <a:srgbClr val="3048A0"/>
    <a:srgbClr val="3E6A92"/>
    <a:srgbClr val="DC97FF"/>
    <a:srgbClr val="993300"/>
    <a:srgbClr val="004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Stijl, gemiddeld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17" autoAdjust="0"/>
  </p:normalViewPr>
  <p:slideViewPr>
    <p:cSldViewPr snapToGrid="0">
      <p:cViewPr varScale="1">
        <p:scale>
          <a:sx n="81" d="100"/>
          <a:sy n="81" d="100"/>
        </p:scale>
        <p:origin x="148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772F1-7711-4C39-A47E-5479F4D6C06D}" type="datetimeFigureOut">
              <a:rPr lang="nl-BE" smtClean="0"/>
              <a:t>6/12/2022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B222E-4FF6-4DF4-B2D7-001943EBE33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5308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B222E-4FF6-4DF4-B2D7-001943EBE333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0246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B222E-4FF6-4DF4-B2D7-001943EBE333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0569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00"/>
            <a:ext cx="9144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9144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9144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solidFill>
            <a:srgbClr val="EC4B2F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BE" dirty="0"/>
              <a:t>Applicaties ICT – Sofie Beerens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solidFill>
            <a:srgbClr val="00A0AE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0" name="Picture 9" descr="TM_logo_vignet_pp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0000" y="360000"/>
            <a:ext cx="2157984" cy="1155192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3"/>
          </p:nvPr>
        </p:nvSpPr>
        <p:spPr>
          <a:xfrm>
            <a:off x="755576" y="6570000"/>
            <a:ext cx="990706" cy="200055"/>
          </a:xfrm>
          <a:solidFill>
            <a:schemeClr val="tx1"/>
          </a:solidFill>
        </p:spPr>
        <p:txBody>
          <a:bodyPr/>
          <a:lstStyle>
            <a:lvl1pPr>
              <a:defRPr sz="1300">
                <a:solidFill>
                  <a:srgbClr val="00A0AE"/>
                </a:solidFill>
              </a:defRPr>
            </a:lvl1pPr>
          </a:lstStyle>
          <a:p>
            <a:pPr algn="l"/>
            <a:endParaRPr lang="nl-BE" dirty="0"/>
          </a:p>
        </p:txBody>
      </p:sp>
      <p:sp>
        <p:nvSpPr>
          <p:cNvPr id="20" name="Rectangle 19"/>
          <p:cNvSpPr/>
          <p:nvPr/>
        </p:nvSpPr>
        <p:spPr>
          <a:xfrm>
            <a:off x="0" y="5661248"/>
            <a:ext cx="9144000" cy="288032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image_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32000" y="6192000"/>
            <a:ext cx="1136842" cy="43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00A0A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nl-B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34000"/>
          </a:xfrm>
        </p:spPr>
        <p:txBody>
          <a:bodyPr bIns="144000" numCol="2" spcCol="360000" anchor="ctr" anchorCtr="0"/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1" name="Picture 10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4428000" cy="1097992"/>
          </a:xfrm>
        </p:spPr>
        <p:txBody>
          <a:bodyPr lIns="252000" tIns="252000" r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285992"/>
            <a:ext cx="4428000" cy="3600000"/>
          </a:xfrm>
        </p:spPr>
        <p:txBody>
          <a:bodyPr lIns="252000" tIns="0" rIns="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6032" y="1152000"/>
            <a:ext cx="4428000" cy="1097992"/>
          </a:xfrm>
        </p:spPr>
        <p:txBody>
          <a:bodyPr lIns="0" tIns="252000" rIns="252000" bIns="0" anchor="t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32" y="2285992"/>
            <a:ext cx="4428000" cy="3600000"/>
          </a:xfrm>
        </p:spPr>
        <p:txBody>
          <a:bodyPr lIns="0" tIns="0" rIns="25200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4" name="Picture 13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 lIns="0" rIns="0" bIns="144000"/>
          <a:lstStyle>
            <a:lvl2pPr algn="l">
              <a:defRPr/>
            </a:lvl2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50C6DD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87"/>
          <p:cNvSpPr>
            <a:spLocks noGrp="1"/>
          </p:cNvSpPr>
          <p:nvPr>
            <p:ph type="pic" sz="quarter" idx="10"/>
          </p:nvPr>
        </p:nvSpPr>
        <p:spPr>
          <a:xfrm>
            <a:off x="180000" y="1152000"/>
            <a:ext cx="3428992" cy="4734000"/>
          </a:xfrm>
        </p:spPr>
        <p:txBody>
          <a:bodyPr>
            <a:normAutofit/>
          </a:bodyPr>
          <a:lstStyle>
            <a:lvl1pPr>
              <a:buNone/>
              <a:defRPr sz="1000"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>
            <a:lvl1pPr>
              <a:buClrTx/>
              <a:defRPr>
                <a:solidFill>
                  <a:srgbClr val="000000"/>
                </a:solidFill>
              </a:defRPr>
            </a:lvl1pPr>
            <a:lvl2pPr>
              <a:buClrTx/>
              <a:defRPr>
                <a:solidFill>
                  <a:srgbClr val="000000"/>
                </a:solidFill>
              </a:defRPr>
            </a:lvl2pPr>
            <a:lvl3pPr>
              <a:buClrTx/>
              <a:defRPr>
                <a:solidFill>
                  <a:srgbClr val="000000"/>
                </a:solidFill>
              </a:defRPr>
            </a:lvl3pPr>
            <a:lvl4pPr>
              <a:buClrTx/>
              <a:defRPr>
                <a:solidFill>
                  <a:srgbClr val="000000"/>
                </a:solidFill>
              </a:defRPr>
            </a:lvl4pPr>
            <a:lvl5pPr>
              <a:buClrTx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/>
          <a:p>
            <a:r>
              <a:rPr lang="nl-NL" dirty="0"/>
              <a:t>Klik op het pictogram als u een afbeelding wilt toevoegen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24"/>
            <a:ext cx="9144000" cy="900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76" y="6084000"/>
            <a:ext cx="4032424" cy="432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anchor="ctr" anchorCtr="0">
            <a:noAutofit/>
          </a:bodyPr>
          <a:lstStyle>
            <a:lvl1pPr algn="l">
              <a:lnSpc>
                <a:spcPct val="90000"/>
              </a:lnSpc>
              <a:defRPr sz="1500">
                <a:solidFill>
                  <a:srgbClr val="00A0AE"/>
                </a:solidFill>
                <a:latin typeface="Trebuchet MS" pitchFamily="34" charset="0"/>
              </a:defRPr>
            </a:lvl1pPr>
          </a:lstStyle>
          <a:p>
            <a:endParaRPr lang="nl-BE" dirty="0"/>
          </a:p>
        </p:txBody>
      </p:sp>
      <p:sp>
        <p:nvSpPr>
          <p:cNvPr id="86" name="Slide Number Placeholder 85"/>
          <p:cNvSpPr>
            <a:spLocks noGrp="1"/>
          </p:cNvSpPr>
          <p:nvPr>
            <p:ph type="sldNum" sz="quarter" idx="4"/>
          </p:nvPr>
        </p:nvSpPr>
        <p:spPr>
          <a:xfrm>
            <a:off x="360000" y="6084000"/>
            <a:ext cx="360000" cy="667148"/>
          </a:xfrm>
          <a:prstGeom prst="rect">
            <a:avLst/>
          </a:prstGeom>
          <a:solidFill>
            <a:srgbClr val="00A0AE"/>
          </a:solidFill>
        </p:spPr>
        <p:txBody>
          <a:bodyPr vert="horz" wrap="none" lIns="0" tIns="108000" rIns="0" bIns="0" rtlCol="0" anchor="ctr" anchorCtr="0">
            <a:noAutofit/>
          </a:bodyPr>
          <a:lstStyle>
            <a:lvl1pPr algn="ctr">
              <a:defRPr sz="2000" b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ln w="0">
            <a:noFill/>
          </a:ln>
        </p:spPr>
        <p:txBody>
          <a:bodyPr vert="horz" lIns="360000" tIns="180000" rIns="360000" bIns="144000" rtlCol="0" anchor="ctr">
            <a:noAutofit/>
          </a:bodyPr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0" name="Date Placeholder 3"/>
          <p:cNvSpPr>
            <a:spLocks noGrp="1"/>
          </p:cNvSpPr>
          <p:nvPr>
            <p:ph type="dt" sz="half" idx="2"/>
          </p:nvPr>
        </p:nvSpPr>
        <p:spPr>
          <a:xfrm>
            <a:off x="755576" y="6570000"/>
            <a:ext cx="990706" cy="200055"/>
          </a:xfrm>
          <a:prstGeom prst="rect">
            <a:avLst/>
          </a:prstGeom>
          <a:solidFill>
            <a:srgbClr val="EC4B2F"/>
          </a:solidFill>
        </p:spPr>
        <p:txBody>
          <a:bodyPr wrap="none" lIns="108000" tIns="0" rIns="0" bIns="0" anchor="b" anchorCtr="0">
            <a:spAutoFit/>
          </a:bodyPr>
          <a:lstStyle>
            <a:lvl1pPr algn="r">
              <a:defRPr sz="13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algn="l"/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78" r:id="rId3"/>
    <p:sldLayoutId id="2147483653" r:id="rId4"/>
    <p:sldLayoutId id="2147483679" r:id="rId5"/>
    <p:sldLayoutId id="2147483688" r:id="rId6"/>
    <p:sldLayoutId id="2147483687" r:id="rId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all" baseline="0">
          <a:solidFill>
            <a:srgbClr val="EC4B2F"/>
          </a:solidFill>
          <a:latin typeface="Trebuchet MS" pitchFamily="34" charset="0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SzPct val="90000"/>
        <a:buFont typeface="Verdana" pitchFamily="34" charset="0"/>
        <a:buChar char="•"/>
        <a:defRPr sz="30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1pPr>
      <a:lvl2pPr marL="723900" indent="-3683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−"/>
        <a:defRPr sz="27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2pPr>
      <a:lvl3pPr marL="982663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•"/>
        <a:defRPr sz="24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3pPr>
      <a:lvl4pPr marL="1255713" indent="-27305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»"/>
        <a:defRPr sz="21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4pPr>
      <a:lvl5pPr marL="1609725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Arial" pitchFamily="34" charset="0"/>
        <a:buNone/>
        <a:defRPr sz="20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/PHP-MySQL/Lectures/Lecture11/example01_die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PHP-MySQL/Lectures/Lecture11/example02_errorFunction.php" TargetMode="External"/><Relationship Id="rId2" Type="http://schemas.openxmlformats.org/officeDocument/2006/relationships/hyperlink" Target="XAMPP-examples/example02_errorFunction.ph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localhost/PHP-MySQL/Lectures/Lecture11/example03_triggerError.ph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-MySQL/Lectures/Lecture11/example05_errorLogging.ph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-MySQL/Lectures/Lecture11/example06_basicException.php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PHP-MySQL/Lectures/Lecture11/example07_basicException.php" TargetMode="External"/><Relationship Id="rId2" Type="http://schemas.openxmlformats.org/officeDocument/2006/relationships/hyperlink" Target="XAMPP-examples/example07_basicException.php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XAMPP-examples/example08_customException.php" TargetMode="External"/><Relationship Id="rId2" Type="http://schemas.openxmlformats.org/officeDocument/2006/relationships/hyperlink" Target="../../../../XAMPP/htdocs/ApplicatiesICT/Lessen/Les11/voorbeeld06_basicException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PHP-MySQL/Lectures/Lecture11/example08_customException.php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localhost/PHP-MySQL/Lectures/Lecture11/example09_uncaughtException.php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-MySQL/Lectures/Lecture11/example10_topLevelExceptionHandler.ph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XAMPP-examples/example11_moreExceptions.ph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XAMPP-examples/example12_reThrowing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Error handling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30609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774347"/>
          </a:xfrm>
        </p:spPr>
        <p:txBody>
          <a:bodyPr>
            <a:normAutofit/>
          </a:bodyPr>
          <a:lstStyle/>
          <a:p>
            <a:r>
              <a:rPr lang="en-US" noProof="0" dirty="0"/>
              <a:t>Error message in PHP </a:t>
            </a:r>
          </a:p>
          <a:p>
            <a:pPr lvl="1"/>
            <a:r>
              <a:rPr lang="en-US" sz="2800" noProof="0" dirty="0"/>
              <a:t>Security risk</a:t>
            </a:r>
            <a:r>
              <a:rPr lang="en-US" sz="2800" dirty="0"/>
              <a:t>: contains information about the 				  underlying system</a:t>
            </a:r>
            <a:endParaRPr lang="en-US" sz="2800" noProof="0" dirty="0"/>
          </a:p>
          <a:p>
            <a:pPr marL="355600" lvl="1" indent="0">
              <a:buNone/>
            </a:pPr>
            <a:endParaRPr lang="en-US" sz="2800" noProof="0" dirty="0"/>
          </a:p>
          <a:p>
            <a:pPr marL="355600" lvl="1" indent="0">
              <a:buNone/>
            </a:pPr>
            <a:endParaRPr lang="en-US" sz="2800" noProof="0" dirty="0"/>
          </a:p>
          <a:p>
            <a:pPr marL="355600" lvl="1" indent="0">
              <a:buNone/>
            </a:pPr>
            <a:endParaRPr lang="nl-BE" sz="2800" noProof="0" dirty="0"/>
          </a:p>
          <a:p>
            <a:pPr marL="355600" lvl="1" indent="0">
              <a:buNone/>
            </a:pPr>
            <a:endParaRPr lang="en-US" sz="2800" noProof="0" dirty="0"/>
          </a:p>
          <a:p>
            <a:pPr lvl="1"/>
            <a:r>
              <a:rPr lang="en-US" sz="2800" noProof="0" dirty="0"/>
              <a:t>Not professional</a:t>
            </a:r>
          </a:p>
          <a:p>
            <a:pPr lvl="1"/>
            <a:r>
              <a:rPr lang="en-US" sz="2800" dirty="0"/>
              <a:t>No overview of errors encountered by users</a:t>
            </a:r>
            <a:endParaRPr lang="en-US" sz="28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Why?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</a:t>
            </a:fld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08" y="2800291"/>
            <a:ext cx="4801016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21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noProof="0" dirty="0">
                <a:hlinkClick r:id="rId2"/>
              </a:rPr>
              <a:t>die</a:t>
            </a:r>
            <a:r>
              <a:rPr lang="en-US" noProof="0" dirty="0"/>
              <a:t>(“error message”) or exit(“error message”)</a:t>
            </a:r>
          </a:p>
          <a:p>
            <a:pPr marL="0" indent="0">
              <a:buNone/>
            </a:pPr>
            <a:endParaRPr lang="en-US" noProof="0" dirty="0"/>
          </a:p>
          <a:p>
            <a:pPr lvl="1"/>
            <a:r>
              <a:rPr lang="en-US" noProof="0" dirty="0"/>
              <a:t>Stops script </a:t>
            </a:r>
          </a:p>
          <a:p>
            <a:pPr lvl="1"/>
            <a:r>
              <a:rPr lang="en-US" noProof="0" dirty="0"/>
              <a:t>shows “error message” on screen</a:t>
            </a:r>
          </a:p>
          <a:p>
            <a:pPr lvl="1"/>
            <a:endParaRPr lang="en-US" noProof="0" dirty="0"/>
          </a:p>
          <a:p>
            <a:pPr marL="355600" lvl="1" indent="0">
              <a:buNone/>
            </a:pPr>
            <a:r>
              <a:rPr lang="en-US" noProof="0" dirty="0"/>
              <a:t>!! Object destructors are still executed</a:t>
            </a:r>
          </a:p>
          <a:p>
            <a:pPr marL="355600" lvl="1" indent="0">
              <a:buNone/>
            </a:pPr>
            <a:endParaRPr lang="en-US" noProof="0" dirty="0"/>
          </a:p>
          <a:p>
            <a:pPr marL="355600" lvl="1" indent="0">
              <a:buNone/>
            </a:pPr>
            <a:r>
              <a:rPr lang="en-US" dirty="0"/>
              <a:t>+  control of error message</a:t>
            </a:r>
          </a:p>
          <a:p>
            <a:pPr marL="355600" lvl="1" indent="0">
              <a:buNone/>
            </a:pPr>
            <a:r>
              <a:rPr lang="en-US" dirty="0"/>
              <a:t>    Script stops suddenly </a:t>
            </a:r>
            <a:r>
              <a:rPr lang="en-US" noProof="0" dirty="0"/>
              <a:t>=&gt; user experience?</a:t>
            </a:r>
          </a:p>
          <a:p>
            <a:pPr lvl="1">
              <a:buFontTx/>
              <a:buChar char="-"/>
            </a:pPr>
            <a:r>
              <a:rPr lang="en-US" noProof="0" dirty="0"/>
              <a:t>No error logging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error handling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</a:t>
            </a:fld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4754880"/>
            <a:ext cx="304038" cy="304038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164900"/>
            <a:ext cx="304038" cy="304038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82" y="4309078"/>
            <a:ext cx="347474" cy="33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2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 err="1"/>
              <a:t>error_function</a:t>
            </a:r>
            <a:r>
              <a:rPr lang="en-US" noProof="0" dirty="0"/>
              <a:t>(</a:t>
            </a:r>
            <a:r>
              <a:rPr lang="en-US" noProof="0" dirty="0" err="1"/>
              <a:t>error_level</a:t>
            </a:r>
            <a:r>
              <a:rPr lang="en-US" noProof="0" dirty="0"/>
              <a:t>, </a:t>
            </a:r>
            <a:r>
              <a:rPr lang="en-US" noProof="0" dirty="0" err="1"/>
              <a:t>error_message</a:t>
            </a:r>
            <a:r>
              <a:rPr lang="en-US" noProof="0" dirty="0"/>
              <a:t>, 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	</a:t>
            </a:r>
            <a:r>
              <a:rPr lang="en-US" noProof="0" dirty="0" err="1"/>
              <a:t>error_file</a:t>
            </a:r>
            <a:r>
              <a:rPr lang="en-US" noProof="0" dirty="0"/>
              <a:t>, </a:t>
            </a:r>
            <a:r>
              <a:rPr lang="en-US" noProof="0" dirty="0" err="1"/>
              <a:t>error_line</a:t>
            </a:r>
            <a:r>
              <a:rPr lang="en-US" noProof="0" dirty="0"/>
              <a:t>, </a:t>
            </a:r>
            <a:r>
              <a:rPr lang="en-US" noProof="0" dirty="0" err="1"/>
              <a:t>error_context</a:t>
            </a:r>
            <a:r>
              <a:rPr lang="en-US" noProof="0" dirty="0"/>
              <a:t>);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Error handler function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7" name="Ovaal 6"/>
          <p:cNvSpPr/>
          <p:nvPr/>
        </p:nvSpPr>
        <p:spPr>
          <a:xfrm>
            <a:off x="3017520" y="2304288"/>
            <a:ext cx="1956816" cy="6309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9" name="Rechte verbindingslijn met pijl 8"/>
          <p:cNvCxnSpPr>
            <a:stCxn id="7" idx="1"/>
          </p:cNvCxnSpPr>
          <p:nvPr/>
        </p:nvCxnSpPr>
        <p:spPr>
          <a:xfrm flipH="1" flipV="1">
            <a:off x="2551176" y="1874520"/>
            <a:ext cx="752913" cy="5221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vak 9"/>
          <p:cNvSpPr txBox="1"/>
          <p:nvPr/>
        </p:nvSpPr>
        <p:spPr>
          <a:xfrm>
            <a:off x="1133856" y="1416151"/>
            <a:ext cx="3270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>
                <a:solidFill>
                  <a:srgbClr val="FF0000"/>
                </a:solidFill>
              </a:rPr>
              <a:t>Mandatory</a:t>
            </a:r>
            <a:r>
              <a:rPr lang="nl-BE" sz="2400" dirty="0">
                <a:solidFill>
                  <a:srgbClr val="FF0000"/>
                </a:solidFill>
              </a:rPr>
              <a:t>: </a:t>
            </a:r>
            <a:r>
              <a:rPr lang="nl-BE" sz="2400" dirty="0" err="1">
                <a:solidFill>
                  <a:srgbClr val="FF0000"/>
                </a:solidFill>
              </a:rPr>
              <a:t>number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1" name="Ovaal 10"/>
          <p:cNvSpPr/>
          <p:nvPr/>
        </p:nvSpPr>
        <p:spPr>
          <a:xfrm>
            <a:off x="5072418" y="2313304"/>
            <a:ext cx="2724912" cy="6309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2" name="Rechte verbindingslijn met pijl 11"/>
          <p:cNvCxnSpPr/>
          <p:nvPr/>
        </p:nvCxnSpPr>
        <p:spPr>
          <a:xfrm flipV="1">
            <a:off x="6382512" y="1719072"/>
            <a:ext cx="478593" cy="5852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12"/>
          <p:cNvSpPr txBox="1"/>
          <p:nvPr/>
        </p:nvSpPr>
        <p:spPr>
          <a:xfrm>
            <a:off x="6071616" y="1266535"/>
            <a:ext cx="1824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>
                <a:solidFill>
                  <a:srgbClr val="FF0000"/>
                </a:solidFill>
              </a:rPr>
              <a:t>Mandatory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6" name="Ovaal 15"/>
          <p:cNvSpPr/>
          <p:nvPr/>
        </p:nvSpPr>
        <p:spPr>
          <a:xfrm>
            <a:off x="1159035" y="3134283"/>
            <a:ext cx="1956816" cy="630936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7" name="Rechte verbindingslijn met pijl 16"/>
          <p:cNvCxnSpPr>
            <a:stCxn id="16" idx="4"/>
            <a:endCxn id="18" idx="0"/>
          </p:cNvCxnSpPr>
          <p:nvPr/>
        </p:nvCxnSpPr>
        <p:spPr>
          <a:xfrm flipH="1">
            <a:off x="1430967" y="3765219"/>
            <a:ext cx="706476" cy="514390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kstvak 17"/>
          <p:cNvSpPr txBox="1"/>
          <p:nvPr/>
        </p:nvSpPr>
        <p:spPr>
          <a:xfrm>
            <a:off x="360000" y="4279609"/>
            <a:ext cx="21419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>
                <a:solidFill>
                  <a:srgbClr val="00A0AE"/>
                </a:solidFill>
              </a:rPr>
              <a:t>Optional</a:t>
            </a:r>
            <a:r>
              <a:rPr lang="nl-BE" sz="2400" dirty="0">
                <a:solidFill>
                  <a:srgbClr val="00A0AE"/>
                </a:solidFill>
              </a:rPr>
              <a:t>: </a:t>
            </a:r>
          </a:p>
          <a:p>
            <a:r>
              <a:rPr lang="en-US" sz="2400" dirty="0">
                <a:solidFill>
                  <a:srgbClr val="00A0AE"/>
                </a:solidFill>
              </a:rPr>
              <a:t>file in which </a:t>
            </a:r>
          </a:p>
          <a:p>
            <a:r>
              <a:rPr lang="en-US" sz="2400" dirty="0">
                <a:solidFill>
                  <a:srgbClr val="00A0AE"/>
                </a:solidFill>
              </a:rPr>
              <a:t>error has </a:t>
            </a:r>
          </a:p>
          <a:p>
            <a:r>
              <a:rPr lang="en-US" sz="2400" dirty="0">
                <a:solidFill>
                  <a:srgbClr val="00A0AE"/>
                </a:solidFill>
              </a:rPr>
              <a:t>occurred</a:t>
            </a:r>
            <a:endParaRPr lang="nl-BE" sz="2400" dirty="0">
              <a:solidFill>
                <a:srgbClr val="00A0AE"/>
              </a:solidFill>
            </a:endParaRPr>
          </a:p>
        </p:txBody>
      </p:sp>
      <p:sp>
        <p:nvSpPr>
          <p:cNvPr id="24" name="Ovaal 23"/>
          <p:cNvSpPr/>
          <p:nvPr/>
        </p:nvSpPr>
        <p:spPr>
          <a:xfrm>
            <a:off x="3118104" y="3134283"/>
            <a:ext cx="1956816" cy="630936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25" name="Rechte verbindingslijn met pijl 24"/>
          <p:cNvCxnSpPr>
            <a:stCxn id="24" idx="4"/>
          </p:cNvCxnSpPr>
          <p:nvPr/>
        </p:nvCxnSpPr>
        <p:spPr>
          <a:xfrm>
            <a:off x="4096512" y="3765219"/>
            <a:ext cx="0" cy="420440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vak 25"/>
          <p:cNvSpPr txBox="1"/>
          <p:nvPr/>
        </p:nvSpPr>
        <p:spPr>
          <a:xfrm>
            <a:off x="2857535" y="4185659"/>
            <a:ext cx="27574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>
                <a:solidFill>
                  <a:srgbClr val="00A0AE"/>
                </a:solidFill>
              </a:rPr>
              <a:t>Optional</a:t>
            </a:r>
            <a:r>
              <a:rPr lang="nl-BE" sz="2400" dirty="0">
                <a:solidFill>
                  <a:srgbClr val="00A0AE"/>
                </a:solidFill>
              </a:rPr>
              <a:t>: </a:t>
            </a:r>
          </a:p>
          <a:p>
            <a:r>
              <a:rPr lang="en-US" sz="2400" dirty="0">
                <a:solidFill>
                  <a:srgbClr val="00A0AE"/>
                </a:solidFill>
              </a:rPr>
              <a:t>line number on </a:t>
            </a:r>
          </a:p>
          <a:p>
            <a:r>
              <a:rPr lang="en-US" sz="2400" dirty="0">
                <a:solidFill>
                  <a:srgbClr val="00A0AE"/>
                </a:solidFill>
              </a:rPr>
              <a:t>Which error has </a:t>
            </a:r>
            <a:br>
              <a:rPr lang="en-US" sz="2400" dirty="0">
                <a:solidFill>
                  <a:srgbClr val="00A0AE"/>
                </a:solidFill>
              </a:rPr>
            </a:br>
            <a:r>
              <a:rPr lang="en-US" sz="2400" dirty="0">
                <a:solidFill>
                  <a:srgbClr val="00A0AE"/>
                </a:solidFill>
              </a:rPr>
              <a:t>occurred</a:t>
            </a:r>
            <a:endParaRPr lang="nl-BE" sz="2400" dirty="0">
              <a:solidFill>
                <a:srgbClr val="00A0AE"/>
              </a:solidFill>
            </a:endParaRPr>
          </a:p>
        </p:txBody>
      </p:sp>
      <p:sp>
        <p:nvSpPr>
          <p:cNvPr id="28" name="Ovaal 27"/>
          <p:cNvSpPr/>
          <p:nvPr/>
        </p:nvSpPr>
        <p:spPr>
          <a:xfrm>
            <a:off x="5134954" y="3123756"/>
            <a:ext cx="2495116" cy="630936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29" name="Rechte verbindingslijn met pijl 28"/>
          <p:cNvCxnSpPr/>
          <p:nvPr/>
        </p:nvCxnSpPr>
        <p:spPr>
          <a:xfrm>
            <a:off x="6828174" y="3744165"/>
            <a:ext cx="145514" cy="518175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kstvak 29"/>
          <p:cNvSpPr txBox="1"/>
          <p:nvPr/>
        </p:nvSpPr>
        <p:spPr>
          <a:xfrm>
            <a:off x="5941805" y="4262340"/>
            <a:ext cx="30977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>
                <a:solidFill>
                  <a:srgbClr val="00A0AE"/>
                </a:solidFill>
              </a:rPr>
              <a:t>Optional</a:t>
            </a:r>
            <a:r>
              <a:rPr lang="nl-BE" sz="2400" dirty="0">
                <a:solidFill>
                  <a:srgbClr val="00A0AE"/>
                </a:solidFill>
              </a:rPr>
              <a:t>: </a:t>
            </a:r>
          </a:p>
          <a:p>
            <a:r>
              <a:rPr lang="en-US" sz="2400" dirty="0">
                <a:solidFill>
                  <a:srgbClr val="00A0AE"/>
                </a:solidFill>
              </a:rPr>
              <a:t>array state from </a:t>
            </a:r>
            <a:br>
              <a:rPr lang="en-US" sz="2400" dirty="0">
                <a:solidFill>
                  <a:srgbClr val="00A0AE"/>
                </a:solidFill>
              </a:rPr>
            </a:br>
            <a:r>
              <a:rPr lang="en-US" sz="2400" dirty="0" err="1">
                <a:solidFill>
                  <a:srgbClr val="00A0AE"/>
                </a:solidFill>
              </a:rPr>
              <a:t>var</a:t>
            </a:r>
            <a:r>
              <a:rPr lang="en-US" sz="2400" dirty="0">
                <a:solidFill>
                  <a:srgbClr val="00A0AE"/>
                </a:solidFill>
              </a:rPr>
              <a:t> at the moment</a:t>
            </a:r>
            <a:br>
              <a:rPr lang="en-US" sz="2400" dirty="0">
                <a:solidFill>
                  <a:srgbClr val="00A0AE"/>
                </a:solidFill>
              </a:rPr>
            </a:br>
            <a:r>
              <a:rPr lang="en-US" sz="2400" dirty="0">
                <a:solidFill>
                  <a:srgbClr val="00A0AE"/>
                </a:solidFill>
              </a:rPr>
              <a:t>of error</a:t>
            </a:r>
            <a:endParaRPr lang="nl-BE" sz="2400" dirty="0">
              <a:solidFill>
                <a:srgbClr val="00A0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68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6" grpId="0" animBg="1"/>
      <p:bldP spid="18" grpId="0"/>
      <p:bldP spid="24" grpId="0" animBg="1"/>
      <p:bldP spid="26" grpId="0"/>
      <p:bldP spid="28" grpId="0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Error handler function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11" name="Tijdelijke aanduiding voor inhoud 1"/>
          <p:cNvSpPr txBox="1">
            <a:spLocks/>
          </p:cNvSpPr>
          <p:nvPr/>
        </p:nvSpPr>
        <p:spPr>
          <a:xfrm>
            <a:off x="0" y="3986784"/>
            <a:ext cx="9144000" cy="1593216"/>
          </a:xfrm>
          <a:prstGeom prst="rect">
            <a:avLst/>
          </a:prstGeom>
        </p:spPr>
        <p:txBody>
          <a:bodyPr vert="horz" lIns="432000" tIns="252000" rIns="43200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 dirty="0"/>
              <a:t>change default PHP error </a:t>
            </a:r>
            <a:r>
              <a:rPr lang="nl-BE" dirty="0" err="1"/>
              <a:t>handler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</a:t>
            </a:r>
            <a:r>
              <a:rPr lang="nl-BE" dirty="0" err="1"/>
              <a:t>above</a:t>
            </a:r>
            <a:r>
              <a:rPr lang="nl-BE" dirty="0"/>
              <a:t> </a:t>
            </a:r>
            <a:r>
              <a:rPr lang="nl-BE" dirty="0" err="1"/>
              <a:t>handleErrors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:</a:t>
            </a:r>
          </a:p>
        </p:txBody>
      </p:sp>
      <p:sp>
        <p:nvSpPr>
          <p:cNvPr id="14" name="Rechthoek 13"/>
          <p:cNvSpPr/>
          <p:nvPr/>
        </p:nvSpPr>
        <p:spPr>
          <a:xfrm>
            <a:off x="413172" y="1401461"/>
            <a:ext cx="8317656" cy="258532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>
            <a:spAutoFit/>
          </a:bodyPr>
          <a:lstStyle/>
          <a:p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handleErrors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errno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 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errMsg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 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errFile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 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errLine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"[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errno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 ]: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.=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errMsg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.=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 in file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errFile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.=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 on line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errLine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nl-BE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    exit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Rechthoek 15"/>
          <p:cNvSpPr/>
          <p:nvPr/>
        </p:nvSpPr>
        <p:spPr>
          <a:xfrm>
            <a:off x="413172" y="5257800"/>
            <a:ext cx="4478868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>
            <a:spAutoFit/>
          </a:bodyPr>
          <a:lstStyle/>
          <a:p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set_error_handler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handleErrors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32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echo $test (non existing variable)</a:t>
            </a:r>
          </a:p>
          <a:p>
            <a:pPr marL="0" indent="0">
              <a:buNone/>
            </a:pPr>
            <a:endParaRPr lang="en-US" noProof="0" dirty="0"/>
          </a:p>
          <a:p>
            <a:pPr marL="514350" indent="-514350">
              <a:buAutoNum type="arabicPeriod"/>
            </a:pPr>
            <a:r>
              <a:rPr lang="en-US" noProof="0" dirty="0"/>
              <a:t>PHP default error handler:</a:t>
            </a:r>
          </a:p>
          <a:p>
            <a:pPr marL="514350" indent="-514350">
              <a:buAutoNum type="arabicPeriod"/>
            </a:pPr>
            <a:endParaRPr lang="en-US" noProof="0" dirty="0"/>
          </a:p>
          <a:p>
            <a:pPr marL="514350" indent="-514350">
              <a:buAutoNum type="arabicPeriod"/>
            </a:pPr>
            <a:endParaRPr lang="en-US" noProof="0" dirty="0"/>
          </a:p>
          <a:p>
            <a:pPr marL="514350" indent="-514350">
              <a:buAutoNum type="arabicPeriod"/>
            </a:pPr>
            <a:endParaRPr lang="en-US" noProof="0" dirty="0"/>
          </a:p>
          <a:p>
            <a:pPr marL="514350" indent="-514350">
              <a:buAutoNum type="arabicPeriod"/>
            </a:pPr>
            <a:r>
              <a:rPr lang="en-US" dirty="0"/>
              <a:t>own</a:t>
            </a:r>
            <a:r>
              <a:rPr lang="en-US" noProof="0" dirty="0"/>
              <a:t> error handler:</a:t>
            </a:r>
          </a:p>
          <a:p>
            <a:pPr marL="514350" indent="-514350">
              <a:buAutoNum type="arabicPeriod"/>
            </a:pP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error handler function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8" name="Tekstvak 7"/>
          <p:cNvSpPr txBox="1"/>
          <p:nvPr/>
        </p:nvSpPr>
        <p:spPr>
          <a:xfrm>
            <a:off x="7059168" y="1349874"/>
            <a:ext cx="1720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000" dirty="0">
                <a:hlinkClick r:id="rId2" action="ppaction://hlinkfile"/>
              </a:rPr>
              <a:t>source code</a:t>
            </a:r>
            <a:endParaRPr lang="nl-BE" sz="2000" dirty="0"/>
          </a:p>
        </p:txBody>
      </p:sp>
      <p:sp>
        <p:nvSpPr>
          <p:cNvPr id="9" name="Tekstvak 8"/>
          <p:cNvSpPr txBox="1"/>
          <p:nvPr/>
        </p:nvSpPr>
        <p:spPr>
          <a:xfrm>
            <a:off x="7059168" y="1777150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000" dirty="0" err="1">
                <a:hlinkClick r:id="rId3"/>
              </a:rPr>
              <a:t>result</a:t>
            </a:r>
            <a:endParaRPr lang="nl-BE" sz="2000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34DD111-7F6B-C63A-1C1E-3DB294F29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90" y="3094452"/>
            <a:ext cx="8661819" cy="587516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A7FA0D08-A0AA-3E73-316E-FA43D67EC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5998"/>
            <a:ext cx="9144000" cy="32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5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Trigger errors yourself if, for example, user input is not correct: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Actively Trigger Error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6" name="Rechthoek 5">
            <a:hlinkClick r:id="rId2"/>
          </p:cNvPr>
          <p:cNvSpPr/>
          <p:nvPr/>
        </p:nvSpPr>
        <p:spPr>
          <a:xfrm>
            <a:off x="594360" y="2487829"/>
            <a:ext cx="7534656" cy="147732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>
            <a:spAutoFit/>
          </a:bodyPr>
          <a:lstStyle/>
          <a:p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$input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$input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nl-BE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dirty="0">
                <a:solidFill>
                  <a:srgbClr val="795E26"/>
                </a:solidFill>
                <a:latin typeface="Consolas" panose="020B0609020204030204" pitchFamily="49" charset="0"/>
              </a:rPr>
              <a:t>    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trigger_error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Input value must be higher than 10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!"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Rechte verbindingslijn met pijl 8"/>
          <p:cNvCxnSpPr/>
          <p:nvPr/>
        </p:nvCxnSpPr>
        <p:spPr>
          <a:xfrm>
            <a:off x="4169664" y="3986784"/>
            <a:ext cx="0" cy="701828"/>
          </a:xfrm>
          <a:prstGeom prst="straightConnector1">
            <a:avLst/>
          </a:prstGeom>
          <a:ln w="38100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75" y="4808665"/>
            <a:ext cx="8686921" cy="58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8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ijdelijke aanduiding voor inhoud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64096"/>
              </p:ext>
            </p:extLst>
          </p:nvPr>
        </p:nvGraphicFramePr>
        <p:xfrm>
          <a:off x="155447" y="1265350"/>
          <a:ext cx="8869681" cy="4380844"/>
        </p:xfrm>
        <a:graphic>
          <a:graphicData uri="http://schemas.openxmlformats.org/drawingml/2006/table">
            <a:tbl>
              <a:tblPr>
                <a:tableStyleId>{EB344D84-9AFB-497E-A393-DC336BA19D2E}</a:tableStyleId>
              </a:tblPr>
              <a:tblGrid>
                <a:gridCol w="667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26">
                <a:tc>
                  <a:txBody>
                    <a:bodyPr/>
                    <a:lstStyle/>
                    <a:p>
                      <a:r>
                        <a:rPr lang="nl-BE" sz="1400" dirty="0">
                          <a:effectLst/>
                        </a:rPr>
                        <a:t>Value</a:t>
                      </a:r>
                    </a:p>
                  </a:txBody>
                  <a:tcPr marL="49748" marR="49748" marT="24874" marB="24874" anchor="ctr">
                    <a:lnT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effectLst/>
                        </a:rPr>
                        <a:t>Constant</a:t>
                      </a:r>
                    </a:p>
                  </a:txBody>
                  <a:tcPr marL="49748" marR="49748" marT="24874" marB="24874" anchor="ctr">
                    <a:lnT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nl-BE" sz="1400" dirty="0" err="1">
                          <a:effectLst/>
                        </a:rPr>
                        <a:t>Description</a:t>
                      </a:r>
                      <a:endParaRPr lang="nl-BE" sz="1400" dirty="0">
                        <a:effectLst/>
                      </a:endParaRPr>
                    </a:p>
                  </a:txBody>
                  <a:tcPr marL="49748" marR="49748" marT="24874" marB="24874" anchor="ctr">
                    <a:lnT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33">
                <a:tc>
                  <a:txBody>
                    <a:bodyPr/>
                    <a:lstStyle/>
                    <a:p>
                      <a:r>
                        <a:rPr lang="nl-BE" sz="1400"/>
                        <a:t>2</a:t>
                      </a:r>
                    </a:p>
                  </a:txBody>
                  <a:tcPr marL="49748" marR="49748" marT="24874" marB="24874" anchor="ctr">
                    <a:lnT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E_WARNING</a:t>
                      </a:r>
                    </a:p>
                  </a:txBody>
                  <a:tcPr marL="49748" marR="49748" marT="24874" marB="24874" anchor="ctr">
                    <a:lnT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Non-fatal run-time errors. Execution of the script is not halted</a:t>
                      </a:r>
                    </a:p>
                  </a:txBody>
                  <a:tcPr marL="49748" marR="49748" marT="24874" marB="24874" anchor="ctr">
                    <a:lnT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476">
                <a:tc>
                  <a:txBody>
                    <a:bodyPr/>
                    <a:lstStyle/>
                    <a:p>
                      <a:r>
                        <a:rPr lang="nl-BE" sz="1400" dirty="0"/>
                        <a:t>8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E_NOTICE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Run-time notices. The script found something that might be an error, but could also happen when running a script normally</a:t>
                      </a:r>
                    </a:p>
                  </a:txBody>
                  <a:tcPr marL="49748" marR="49748" marT="24874" marB="2487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476">
                <a:tc>
                  <a:txBody>
                    <a:bodyPr/>
                    <a:lstStyle/>
                    <a:p>
                      <a:r>
                        <a:rPr lang="nl-BE" sz="1400"/>
                        <a:t>256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E_USER_ERROR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Fatal user-generated error. This is like an E_ERROR set by the programmer using the PHP function </a:t>
                      </a:r>
                      <a:r>
                        <a:rPr lang="en-US" sz="1400" dirty="0" err="1"/>
                        <a:t>trigger_error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49748" marR="49748" marT="24874" marB="2487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476">
                <a:tc>
                  <a:txBody>
                    <a:bodyPr/>
                    <a:lstStyle/>
                    <a:p>
                      <a:r>
                        <a:rPr lang="nl-BE" sz="1400"/>
                        <a:t>512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E_USER_WARNING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Non-fatal user-generated warning. This is like an E_WARNING set by the programmer using the PHP function </a:t>
                      </a:r>
                      <a:r>
                        <a:rPr lang="en-US" sz="1400" dirty="0" err="1"/>
                        <a:t>trigger_error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49748" marR="49748" marT="24874" marB="2487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719">
                <a:tc>
                  <a:txBody>
                    <a:bodyPr/>
                    <a:lstStyle/>
                    <a:p>
                      <a:r>
                        <a:rPr lang="nl-BE" sz="1400"/>
                        <a:t>1024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E_USER_NOTICE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User-generated notice. This is like an E_NOTICE set by the programmer using the PHP function </a:t>
                      </a:r>
                      <a:r>
                        <a:rPr lang="en-US" sz="1400" dirty="0" err="1"/>
                        <a:t>trigger_error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49748" marR="49748" marT="24874" marB="2487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719">
                <a:tc>
                  <a:txBody>
                    <a:bodyPr/>
                    <a:lstStyle/>
                    <a:p>
                      <a:r>
                        <a:rPr lang="nl-BE" sz="1400"/>
                        <a:t>4096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nl-BE" sz="1400"/>
                        <a:t>E_RECOVERABLE_ERROR</a:t>
                      </a:r>
                    </a:p>
                  </a:txBody>
                  <a:tcPr marL="49748" marR="49748" marT="24874" marB="24874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Catchable fatal error. This is like an E_ERROR but can be caught by a user defined handle (see also </a:t>
                      </a:r>
                      <a:r>
                        <a:rPr lang="en-US" sz="1400" dirty="0" err="1"/>
                        <a:t>set_error_handler</a:t>
                      </a:r>
                      <a:r>
                        <a:rPr lang="en-US" sz="1400" dirty="0"/>
                        <a:t>())</a:t>
                      </a:r>
                    </a:p>
                  </a:txBody>
                  <a:tcPr marL="49748" marR="49748" marT="24874" marB="2487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6719">
                <a:tc>
                  <a:txBody>
                    <a:bodyPr/>
                    <a:lstStyle/>
                    <a:p>
                      <a:r>
                        <a:rPr lang="nl-BE" sz="1400"/>
                        <a:t>8191</a:t>
                      </a:r>
                    </a:p>
                  </a:txBody>
                  <a:tcPr marL="49748" marR="49748" marT="24874" marB="24874" anchor="ctr">
                    <a:lnB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nl-BE" sz="1400"/>
                        <a:t>E_ALL</a:t>
                      </a:r>
                    </a:p>
                  </a:txBody>
                  <a:tcPr marL="49748" marR="49748" marT="24874" marB="24874" anchor="ctr">
                    <a:lnB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 errors and warnings (E_STRICT became a part of E_ALL in PHP 5.4)</a:t>
                      </a:r>
                    </a:p>
                  </a:txBody>
                  <a:tcPr marL="49748" marR="49748" marT="24874" marB="24874" anchor="ctr">
                    <a:lnB w="12700" cap="flat" cmpd="sng" algn="ctr">
                      <a:solidFill>
                        <a:srgbClr val="EC4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Error numbers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7" name="Ovaal 6"/>
          <p:cNvSpPr/>
          <p:nvPr/>
        </p:nvSpPr>
        <p:spPr>
          <a:xfrm>
            <a:off x="82296" y="3895344"/>
            <a:ext cx="673280" cy="274320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19433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60" y="5133856"/>
            <a:ext cx="8288064" cy="566899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Limit the use of error handling function :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</a:t>
            </a:r>
            <a:r>
              <a:rPr lang="en-US" noProof="0" dirty="0"/>
              <a:t>error handling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7" name="Rechthoek 6"/>
          <p:cNvSpPr/>
          <p:nvPr/>
        </p:nvSpPr>
        <p:spPr>
          <a:xfrm>
            <a:off x="457200" y="1997839"/>
            <a:ext cx="7946136" cy="230832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set_error_handler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handleErrors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E_USER_WARNING);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trigger_error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"Input value must be higher than 10!"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			    E_USER_WARNING);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Rechte verbindingslijn met pijl 7"/>
          <p:cNvCxnSpPr/>
          <p:nvPr/>
        </p:nvCxnSpPr>
        <p:spPr>
          <a:xfrm>
            <a:off x="4599432" y="4379976"/>
            <a:ext cx="0" cy="701828"/>
          </a:xfrm>
          <a:prstGeom prst="straightConnector1">
            <a:avLst/>
          </a:prstGeom>
          <a:ln w="38100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al 8"/>
          <p:cNvSpPr/>
          <p:nvPr/>
        </p:nvSpPr>
        <p:spPr>
          <a:xfrm>
            <a:off x="383360" y="5142986"/>
            <a:ext cx="673280" cy="274320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273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 err="1"/>
              <a:t>error_log</a:t>
            </a:r>
            <a:r>
              <a:rPr lang="en-US" noProof="0" dirty="0"/>
              <a:t>(</a:t>
            </a:r>
            <a:r>
              <a:rPr lang="en-US" i="1" noProof="0" dirty="0"/>
              <a:t>message, type, destination, headers</a:t>
            </a:r>
            <a:r>
              <a:rPr lang="en-US" noProof="0" dirty="0"/>
              <a:t>);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Error logging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6" name="Ovaal 5"/>
          <p:cNvSpPr/>
          <p:nvPr/>
        </p:nvSpPr>
        <p:spPr>
          <a:xfrm>
            <a:off x="2029968" y="2862072"/>
            <a:ext cx="1627632" cy="6309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7" name="Rechte verbindingslijn met pijl 6"/>
          <p:cNvCxnSpPr/>
          <p:nvPr/>
        </p:nvCxnSpPr>
        <p:spPr>
          <a:xfrm flipV="1">
            <a:off x="2880360" y="2185491"/>
            <a:ext cx="372976" cy="6765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7"/>
          <p:cNvSpPr txBox="1"/>
          <p:nvPr/>
        </p:nvSpPr>
        <p:spPr>
          <a:xfrm>
            <a:off x="2110360" y="1363577"/>
            <a:ext cx="53062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>
                <a:solidFill>
                  <a:srgbClr val="FF0000"/>
                </a:solidFill>
              </a:rPr>
              <a:t>Mandatory</a:t>
            </a:r>
            <a:r>
              <a:rPr lang="nl-BE" sz="2400" dirty="0">
                <a:solidFill>
                  <a:srgbClr val="FF0000"/>
                </a:solidFill>
              </a:rPr>
              <a:t>:</a:t>
            </a:r>
          </a:p>
          <a:p>
            <a:r>
              <a:rPr lang="nl-BE" sz="2400" dirty="0">
                <a:solidFill>
                  <a:srgbClr val="FF0000"/>
                </a:solidFill>
              </a:rPr>
              <a:t>Message </a:t>
            </a:r>
            <a:r>
              <a:rPr lang="nl-BE" sz="2400" dirty="0" err="1">
                <a:solidFill>
                  <a:srgbClr val="FF0000"/>
                </a:solidFill>
              </a:rPr>
              <a:t>that</a:t>
            </a:r>
            <a:r>
              <a:rPr lang="nl-BE" sz="2400" dirty="0">
                <a:solidFill>
                  <a:srgbClr val="FF0000"/>
                </a:solidFill>
              </a:rPr>
              <a:t> </a:t>
            </a:r>
            <a:r>
              <a:rPr lang="nl-BE" sz="2400" dirty="0" err="1">
                <a:solidFill>
                  <a:srgbClr val="FF0000"/>
                </a:solidFill>
              </a:rPr>
              <a:t>needs</a:t>
            </a:r>
            <a:r>
              <a:rPr lang="nl-BE" sz="2400" dirty="0">
                <a:solidFill>
                  <a:srgbClr val="FF0000"/>
                </a:solidFill>
              </a:rPr>
              <a:t> </a:t>
            </a:r>
            <a:r>
              <a:rPr lang="nl-BE" sz="2400" dirty="0" err="1">
                <a:solidFill>
                  <a:srgbClr val="FF0000"/>
                </a:solidFill>
              </a:rPr>
              <a:t>to</a:t>
            </a:r>
            <a:r>
              <a:rPr lang="nl-BE" sz="2400" dirty="0">
                <a:solidFill>
                  <a:srgbClr val="FF0000"/>
                </a:solidFill>
              </a:rPr>
              <a:t> </a:t>
            </a:r>
            <a:r>
              <a:rPr lang="nl-BE" sz="2400" dirty="0" err="1">
                <a:solidFill>
                  <a:srgbClr val="FF0000"/>
                </a:solidFill>
              </a:rPr>
              <a:t>be</a:t>
            </a:r>
            <a:r>
              <a:rPr lang="nl-BE" sz="2400" dirty="0">
                <a:solidFill>
                  <a:srgbClr val="FF0000"/>
                </a:solidFill>
              </a:rPr>
              <a:t> </a:t>
            </a:r>
            <a:r>
              <a:rPr lang="nl-BE" sz="2400" dirty="0" err="1">
                <a:solidFill>
                  <a:srgbClr val="FF0000"/>
                </a:solidFill>
              </a:rPr>
              <a:t>logged</a:t>
            </a:r>
            <a:endParaRPr lang="nl-BE" sz="2400" dirty="0">
              <a:solidFill>
                <a:srgbClr val="FF0000"/>
              </a:solidFill>
            </a:endParaRPr>
          </a:p>
        </p:txBody>
      </p:sp>
      <p:sp>
        <p:nvSpPr>
          <p:cNvPr id="11" name="Ovaal 10"/>
          <p:cNvSpPr/>
          <p:nvPr/>
        </p:nvSpPr>
        <p:spPr>
          <a:xfrm>
            <a:off x="3739896" y="2843906"/>
            <a:ext cx="964133" cy="630936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2" name="Rechte verbindingslijn met pijl 11"/>
          <p:cNvCxnSpPr>
            <a:stCxn id="11" idx="4"/>
            <a:endCxn id="13" idx="0"/>
          </p:cNvCxnSpPr>
          <p:nvPr/>
        </p:nvCxnSpPr>
        <p:spPr>
          <a:xfrm flipH="1">
            <a:off x="3383480" y="3474842"/>
            <a:ext cx="838483" cy="586402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12"/>
          <p:cNvSpPr txBox="1"/>
          <p:nvPr/>
        </p:nvSpPr>
        <p:spPr>
          <a:xfrm>
            <a:off x="2520102" y="4061244"/>
            <a:ext cx="17267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>
                <a:solidFill>
                  <a:srgbClr val="00A0AE"/>
                </a:solidFill>
              </a:rPr>
              <a:t>Optional</a:t>
            </a:r>
            <a:r>
              <a:rPr lang="nl-BE" sz="2400" dirty="0">
                <a:solidFill>
                  <a:srgbClr val="00A0AE"/>
                </a:solidFill>
              </a:rPr>
              <a:t>: </a:t>
            </a:r>
          </a:p>
          <a:p>
            <a:r>
              <a:rPr lang="nl-BE" sz="2400" dirty="0">
                <a:solidFill>
                  <a:srgbClr val="00A0AE"/>
                </a:solidFill>
              </a:rPr>
              <a:t>How?</a:t>
            </a:r>
          </a:p>
        </p:txBody>
      </p:sp>
      <p:sp>
        <p:nvSpPr>
          <p:cNvPr id="17" name="Ovaal 16"/>
          <p:cNvSpPr/>
          <p:nvPr/>
        </p:nvSpPr>
        <p:spPr>
          <a:xfrm>
            <a:off x="4826142" y="2862072"/>
            <a:ext cx="2041002" cy="630936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8" name="Rechte verbindingslijn met pijl 17"/>
          <p:cNvCxnSpPr>
            <a:stCxn id="17" idx="4"/>
            <a:endCxn id="19" idx="0"/>
          </p:cNvCxnSpPr>
          <p:nvPr/>
        </p:nvCxnSpPr>
        <p:spPr>
          <a:xfrm flipH="1">
            <a:off x="5222912" y="3493008"/>
            <a:ext cx="623731" cy="568236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kstvak 18"/>
          <p:cNvSpPr txBox="1"/>
          <p:nvPr/>
        </p:nvSpPr>
        <p:spPr>
          <a:xfrm>
            <a:off x="4359534" y="4061244"/>
            <a:ext cx="17267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>
                <a:solidFill>
                  <a:srgbClr val="00A0AE"/>
                </a:solidFill>
              </a:rPr>
              <a:t>Optional</a:t>
            </a:r>
            <a:r>
              <a:rPr lang="nl-BE" sz="2400" dirty="0">
                <a:solidFill>
                  <a:srgbClr val="00A0AE"/>
                </a:solidFill>
              </a:rPr>
              <a:t>: </a:t>
            </a:r>
          </a:p>
          <a:p>
            <a:r>
              <a:rPr lang="nl-BE" sz="2400" dirty="0" err="1">
                <a:solidFill>
                  <a:srgbClr val="00A0AE"/>
                </a:solidFill>
              </a:rPr>
              <a:t>Where</a:t>
            </a:r>
            <a:r>
              <a:rPr lang="nl-BE" sz="2400" dirty="0">
                <a:solidFill>
                  <a:srgbClr val="00A0AE"/>
                </a:solidFill>
              </a:rPr>
              <a:t>?</a:t>
            </a:r>
          </a:p>
        </p:txBody>
      </p:sp>
      <p:sp>
        <p:nvSpPr>
          <p:cNvPr id="22" name="Ovaal 21"/>
          <p:cNvSpPr/>
          <p:nvPr/>
        </p:nvSpPr>
        <p:spPr>
          <a:xfrm>
            <a:off x="6938162" y="2843906"/>
            <a:ext cx="1529182" cy="630936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23" name="Rechte verbindingslijn met pijl 22"/>
          <p:cNvCxnSpPr>
            <a:stCxn id="22" idx="4"/>
            <a:endCxn id="24" idx="0"/>
          </p:cNvCxnSpPr>
          <p:nvPr/>
        </p:nvCxnSpPr>
        <p:spPr>
          <a:xfrm>
            <a:off x="7702753" y="3474842"/>
            <a:ext cx="16069" cy="586402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kstvak 23"/>
          <p:cNvSpPr txBox="1"/>
          <p:nvPr/>
        </p:nvSpPr>
        <p:spPr>
          <a:xfrm>
            <a:off x="6387368" y="4061244"/>
            <a:ext cx="26629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>
                <a:solidFill>
                  <a:srgbClr val="00A0AE"/>
                </a:solidFill>
              </a:rPr>
              <a:t>Optional</a:t>
            </a:r>
            <a:r>
              <a:rPr lang="nl-BE" sz="2400" dirty="0">
                <a:solidFill>
                  <a:srgbClr val="00A0AE"/>
                </a:solidFill>
              </a:rPr>
              <a:t>: </a:t>
            </a:r>
          </a:p>
          <a:p>
            <a:r>
              <a:rPr lang="nl-BE" sz="2400" dirty="0" err="1">
                <a:solidFill>
                  <a:srgbClr val="00A0AE"/>
                </a:solidFill>
              </a:rPr>
              <a:t>Only</a:t>
            </a:r>
            <a:r>
              <a:rPr lang="nl-BE" sz="2400" dirty="0">
                <a:solidFill>
                  <a:srgbClr val="00A0AE"/>
                </a:solidFill>
              </a:rPr>
              <a:t> for mailing</a:t>
            </a:r>
          </a:p>
        </p:txBody>
      </p:sp>
    </p:spTree>
    <p:extLst>
      <p:ext uri="{BB962C8B-B14F-4D97-AF65-F5344CB8AC3E}">
        <p14:creationId xmlns:p14="http://schemas.microsoft.com/office/powerpoint/2010/main" val="403283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 animBg="1"/>
      <p:bldP spid="13" grpId="0"/>
      <p:bldP spid="17" grpId="0" animBg="1"/>
      <p:bldP spid="19" grpId="0"/>
      <p:bldP spid="22" grpId="0" animBg="1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Possible types:</a:t>
            </a:r>
          </a:p>
          <a:p>
            <a:pPr lvl="1"/>
            <a:r>
              <a:rPr lang="en-US" noProof="0" dirty="0"/>
              <a:t>0		Default. Message is sent to PHP's system logger, 			using the OS' system logging mechanism or a file, 		depending on what the </a:t>
            </a:r>
            <a:r>
              <a:rPr lang="en-US" noProof="0" dirty="0" err="1"/>
              <a:t>error_log</a:t>
            </a:r>
            <a:r>
              <a:rPr lang="en-US" noProof="0" dirty="0"/>
              <a:t> configuration is 		set to in php.ini</a:t>
            </a:r>
          </a:p>
          <a:p>
            <a:pPr lvl="1"/>
            <a:r>
              <a:rPr lang="en-US" noProof="0" dirty="0"/>
              <a:t>1 	Message is sent by email to the address in the 			</a:t>
            </a:r>
            <a:r>
              <a:rPr lang="en-US" i="1" noProof="0" dirty="0"/>
              <a:t>destination</a:t>
            </a:r>
            <a:r>
              <a:rPr lang="en-US" noProof="0" dirty="0"/>
              <a:t> parameter </a:t>
            </a:r>
          </a:p>
          <a:p>
            <a:pPr lvl="1"/>
            <a:r>
              <a:rPr lang="en-US" noProof="0" dirty="0"/>
              <a:t>2 	No longer in use (only available in PHP 3)</a:t>
            </a:r>
          </a:p>
          <a:p>
            <a:pPr lvl="1"/>
            <a:r>
              <a:rPr lang="en-US" noProof="0" dirty="0"/>
              <a:t>3 	Message is appended to the file specified in 			</a:t>
            </a:r>
            <a:r>
              <a:rPr lang="en-US" i="1" noProof="0" dirty="0"/>
              <a:t>destination</a:t>
            </a:r>
            <a:endParaRPr lang="en-US" noProof="0" dirty="0"/>
          </a:p>
          <a:p>
            <a:pPr lvl="1"/>
            <a:r>
              <a:rPr lang="en-US" noProof="0" dirty="0"/>
              <a:t>4		Message is sent directly to the SAPI (server API) 			logging handler</a:t>
            </a:r>
          </a:p>
          <a:p>
            <a:pPr lvl="1"/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Error logging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46617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logging class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182880" y="1212835"/>
            <a:ext cx="848563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ErrorLog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ERROR_FILE =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"log/SiteErrors.log"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errno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errMsg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errFile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errLine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nl-B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/>
            <a:endParaRPr lang="nl-B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/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WriteError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2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"Error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logged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nl-BE" dirty="0">
                <a:solidFill>
                  <a:srgbClr val="795E26"/>
                </a:solidFill>
                <a:latin typeface="Consolas" panose="020B0609020204030204" pitchFamily="49" charset="0"/>
              </a:rPr>
              <a:t>date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"Y-m-d H:i:s -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.=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"[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errno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 ]: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.=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errMsg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.=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 in file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errFile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.=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 on line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001080"/>
                </a:solidFill>
                <a:latin typeface="Consolas" panose="020B0609020204030204" pitchFamily="49" charset="0"/>
              </a:rPr>
              <a:t>errLine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.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// Log details of error in a file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error_log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::ERROR_FILE);</a:t>
            </a:r>
          </a:p>
          <a:p>
            <a:pPr lvl="1"/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7040880" y="2002536"/>
            <a:ext cx="1527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>
                <a:hlinkClick r:id="rId2"/>
              </a:rPr>
              <a:t>example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985800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8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8007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  Control of error message per error type</a:t>
            </a:r>
            <a:endParaRPr lang="en-US" noProof="0" dirty="0"/>
          </a:p>
          <a:p>
            <a:pPr marL="0" indent="0">
              <a:buNone/>
            </a:pPr>
            <a:r>
              <a:rPr lang="en-US" dirty="0"/>
              <a:t>    Control of script continuation per error type</a:t>
            </a: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    Error logging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dirty="0"/>
              <a:t>    Distinction between different types of errors  </a:t>
            </a:r>
            <a:br>
              <a:rPr lang="en-US" dirty="0"/>
            </a:br>
            <a:r>
              <a:rPr lang="en-US" dirty="0"/>
              <a:t>    only by type, not error by error.</a:t>
            </a: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    Not object oriented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             Exceptions</a:t>
            </a:r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Pro’s and con’s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13</a:t>
            </a:fld>
            <a:endParaRPr lang="nl-BE" dirty="0"/>
          </a:p>
        </p:txBody>
      </p:sp>
      <p:pic>
        <p:nvPicPr>
          <p:cNvPr id="10" name="Afbeelding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13" y="3182029"/>
            <a:ext cx="447619" cy="447619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4" y="1271016"/>
            <a:ext cx="464674" cy="454438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86" y="1772221"/>
            <a:ext cx="464674" cy="454438"/>
          </a:xfrm>
          <a:prstGeom prst="rect">
            <a:avLst/>
          </a:prstGeom>
        </p:spPr>
      </p:pic>
      <p:pic>
        <p:nvPicPr>
          <p:cNvPr id="13" name="Afbeelding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04" y="2251440"/>
            <a:ext cx="464674" cy="454438"/>
          </a:xfrm>
          <a:prstGeom prst="rect">
            <a:avLst/>
          </a:prstGeom>
        </p:spPr>
      </p:pic>
      <p:sp>
        <p:nvSpPr>
          <p:cNvPr id="14" name="PIJL-RECHTS 13"/>
          <p:cNvSpPr/>
          <p:nvPr/>
        </p:nvSpPr>
        <p:spPr>
          <a:xfrm>
            <a:off x="540000" y="5010770"/>
            <a:ext cx="1105920" cy="362023"/>
          </a:xfrm>
          <a:prstGeom prst="rightArrow">
            <a:avLst/>
          </a:prstGeom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5" name="Afbeelding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12" y="3983200"/>
            <a:ext cx="447619" cy="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General syntax:</a:t>
            </a:r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	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exceptions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755576" y="2274838"/>
            <a:ext cx="73734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Error occurs =&gt;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	throw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messsage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handle exception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176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800" noProof="0" dirty="0"/>
              <a:t>Exception occurs (throw)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800" noProof="0" dirty="0"/>
              <a:t>Current code status is saved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800" noProof="0" dirty="0"/>
              <a:t>exception handler function (catch)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800" noProof="0" dirty="0"/>
              <a:t>After handling exception =&gt;</a:t>
            </a:r>
          </a:p>
          <a:p>
            <a:pPr lvl="2"/>
            <a:r>
              <a:rPr lang="en-US" sz="2000" dirty="0"/>
              <a:t>Continue code from stored code status</a:t>
            </a:r>
          </a:p>
          <a:p>
            <a:pPr lvl="2"/>
            <a:r>
              <a:rPr lang="en-US" sz="2000" dirty="0"/>
              <a:t>Stop script</a:t>
            </a:r>
            <a:endParaRPr lang="en-US" sz="2000" noProof="0" dirty="0"/>
          </a:p>
          <a:p>
            <a:pPr lvl="2"/>
            <a:r>
              <a:rPr lang="en-US" sz="2000" dirty="0"/>
              <a:t>Continue script from another location</a:t>
            </a:r>
            <a:endParaRPr lang="en-US" sz="20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Exceptions flow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15</a:t>
            </a:fld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1375325" y="4872114"/>
            <a:ext cx="60327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000" dirty="0" err="1">
                <a:solidFill>
                  <a:srgbClr val="EC4B2F"/>
                </a:solidFill>
              </a:rPr>
              <a:t>Only</a:t>
            </a:r>
            <a:r>
              <a:rPr lang="nl-BE" sz="2000" dirty="0">
                <a:solidFill>
                  <a:srgbClr val="EC4B2F"/>
                </a:solidFill>
              </a:rPr>
              <a:t> for errorhandling! </a:t>
            </a:r>
          </a:p>
          <a:p>
            <a:r>
              <a:rPr lang="en-US" sz="2000" dirty="0">
                <a:solidFill>
                  <a:srgbClr val="EC4B2F"/>
                </a:solidFill>
              </a:rPr>
              <a:t>Not to jump to another place in the program</a:t>
            </a:r>
            <a:r>
              <a:rPr lang="nl-BE" sz="2000" dirty="0">
                <a:solidFill>
                  <a:srgbClr val="EC4B2F"/>
                </a:solidFill>
              </a:rPr>
              <a:t>!</a:t>
            </a:r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37893" y="4908690"/>
            <a:ext cx="210442" cy="63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5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Standard exception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7" name="Rechthoek 6"/>
          <p:cNvSpPr/>
          <p:nvPr/>
        </p:nvSpPr>
        <p:spPr>
          <a:xfrm>
            <a:off x="329184" y="1342570"/>
            <a:ext cx="88148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$input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$input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nl-BE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	</a:t>
            </a:r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Input value must be higher than 10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!"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nl-BE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"The input was correct!"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ErrorLog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getCode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getMessage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pPr lvl="1"/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			 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getFile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getLine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1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WriteError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exit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"Error: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check the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logfile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for more info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."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Ovaal 7"/>
          <p:cNvSpPr/>
          <p:nvPr/>
        </p:nvSpPr>
        <p:spPr>
          <a:xfrm>
            <a:off x="585216" y="3246120"/>
            <a:ext cx="3886200" cy="393192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kstvak 8"/>
          <p:cNvSpPr txBox="1"/>
          <p:nvPr/>
        </p:nvSpPr>
        <p:spPr>
          <a:xfrm>
            <a:off x="4972284" y="3143062"/>
            <a:ext cx="3646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A0AE"/>
                </a:solidFill>
              </a:rPr>
              <a:t>if an exception is triggered, </a:t>
            </a:r>
            <a:br>
              <a:rPr lang="en-US" dirty="0">
                <a:solidFill>
                  <a:srgbClr val="00A0AE"/>
                </a:solidFill>
              </a:rPr>
            </a:br>
            <a:r>
              <a:rPr lang="en-US" dirty="0">
                <a:solidFill>
                  <a:srgbClr val="00A0AE"/>
                </a:solidFill>
              </a:rPr>
              <a:t>this code will not be executed</a:t>
            </a:r>
            <a:endParaRPr lang="nl-BE" dirty="0">
              <a:solidFill>
                <a:srgbClr val="00A0AE"/>
              </a:solidFill>
            </a:endParaRPr>
          </a:p>
        </p:txBody>
      </p:sp>
      <p:cxnSp>
        <p:nvCxnSpPr>
          <p:cNvPr id="11" name="Rechte verbindingslijn met pijl 10"/>
          <p:cNvCxnSpPr>
            <a:endCxn id="9" idx="1"/>
          </p:cNvCxnSpPr>
          <p:nvPr/>
        </p:nvCxnSpPr>
        <p:spPr>
          <a:xfrm>
            <a:off x="4553339" y="3442996"/>
            <a:ext cx="418945" cy="23232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848856" y="1545336"/>
            <a:ext cx="1527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>
                <a:hlinkClick r:id="rId2"/>
              </a:rPr>
              <a:t>example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382561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Code after throw is not executed if error was triggered</a:t>
            </a:r>
          </a:p>
          <a:p>
            <a:r>
              <a:rPr lang="en-US" noProof="0" dirty="0"/>
              <a:t>Every throw needs a catch</a:t>
            </a:r>
          </a:p>
          <a:p>
            <a:r>
              <a:rPr lang="en-US" dirty="0"/>
              <a:t>Exception handling does not stop further code execution itself!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>
                <a:hlinkClick r:id="rId2" action="ppaction://hlinkfile"/>
              </a:rPr>
              <a:t>source code</a:t>
            </a:r>
            <a:endParaRPr lang="en-US" noProof="0" dirty="0"/>
          </a:p>
          <a:p>
            <a:pPr marL="0" indent="0">
              <a:buNone/>
            </a:pPr>
            <a:r>
              <a:rPr lang="en-US" noProof="0" dirty="0">
                <a:hlinkClick r:id="rId3"/>
              </a:rPr>
              <a:t>example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Standard exception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25649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Custom exception class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261257" y="1582341"/>
            <a:ext cx="875211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MyException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HandleException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</a:p>
          <a:p>
            <a:pPr lvl="1"/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ErrorLog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getCode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getMessage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(), 		     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getFile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getLine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2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WriteError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exit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$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getMessage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1"/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kstvak 6">
            <a:hlinkClick r:id="rId2" action="ppaction://hlinkfile"/>
          </p:cNvPr>
          <p:cNvSpPr txBox="1"/>
          <p:nvPr/>
        </p:nvSpPr>
        <p:spPr>
          <a:xfrm>
            <a:off x="5861304" y="4244608"/>
            <a:ext cx="2340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>
                <a:hlinkClick r:id="rId3" action="ppaction://hlinkfile"/>
              </a:rPr>
              <a:t>source code</a:t>
            </a:r>
            <a:endParaRPr lang="nl-BE" sz="2000" dirty="0"/>
          </a:p>
        </p:txBody>
      </p:sp>
      <p:sp>
        <p:nvSpPr>
          <p:cNvPr id="8" name="Tekstvak 7"/>
          <p:cNvSpPr txBox="1"/>
          <p:nvPr/>
        </p:nvSpPr>
        <p:spPr>
          <a:xfrm>
            <a:off x="5861305" y="4683965"/>
            <a:ext cx="2414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>
                <a:hlinkClick r:id="rId4"/>
              </a:rPr>
              <a:t>example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807360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an Exception still occurs without a catch =&gt; </a:t>
            </a:r>
            <a:r>
              <a:rPr lang="en-US" noProof="0" dirty="0"/>
              <a:t>uncaught exception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Create a </a:t>
            </a:r>
            <a:r>
              <a:rPr lang="en-US" noProof="0" dirty="0" err="1"/>
              <a:t>toplevel</a:t>
            </a:r>
            <a:r>
              <a:rPr lang="en-US" noProof="0" dirty="0"/>
              <a:t> exception handler that catches all uncaught exceptions: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Top level exception handler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19</a:t>
            </a:fld>
            <a:endParaRPr lang="nl-BE" dirty="0"/>
          </a:p>
        </p:txBody>
      </p:sp>
      <p:pic>
        <p:nvPicPr>
          <p:cNvPr id="7" name="Afbeelding 6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792675"/>
            <a:ext cx="9144001" cy="107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97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TOP level exception handler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201168" y="1582341"/>
            <a:ext cx="866851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handleUncaughtException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lvl="1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ErrorLog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getCode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getMessage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pPr lvl="1"/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			 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getFile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getLine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1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$log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WriteError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exit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"An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unexpected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error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occurred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.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Please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contact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the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system 	  administrator!"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set_exception_handler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handleUncaughtException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kstvak 6"/>
          <p:cNvSpPr txBox="1"/>
          <p:nvPr/>
        </p:nvSpPr>
        <p:spPr>
          <a:xfrm>
            <a:off x="6569964" y="4902441"/>
            <a:ext cx="1527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 err="1">
                <a:hlinkClick r:id="rId2"/>
              </a:rPr>
              <a:t>result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910259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different exceptions combined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7" name="Rechthoek 6"/>
          <p:cNvSpPr/>
          <p:nvPr/>
        </p:nvSpPr>
        <p:spPr>
          <a:xfrm>
            <a:off x="100584" y="1207401"/>
            <a:ext cx="907999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	</a:t>
            </a:r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filter_var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$email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, FILTER_VALIDATE_EMAIL) ===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	   //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if</a:t>
            </a:r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 email is 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invalid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	   </a:t>
            </a:r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MyException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not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a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valid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email 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$email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	</a:t>
            </a:r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strpos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$email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"example"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!==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	   //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 standard 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if</a:t>
            </a:r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 'example' is part of email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	   </a:t>
            </a:r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$email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is an example e-mail"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MyException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HandleException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getMessage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kstvak 7"/>
          <p:cNvSpPr txBox="1"/>
          <p:nvPr/>
        </p:nvSpPr>
        <p:spPr>
          <a:xfrm>
            <a:off x="6569963" y="4902441"/>
            <a:ext cx="1992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>
                <a:hlinkClick r:id="rId2" action="ppaction://hlinkfile"/>
              </a:rPr>
              <a:t>source code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1745636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Re-throwing exceptions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22</a:t>
            </a:fld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91440" y="1212835"/>
            <a:ext cx="89611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strpos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$email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"example"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!==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008000"/>
                </a:solidFill>
                <a:latin typeface="Consolas" panose="020B0609020204030204" pitchFamily="49" charset="0"/>
              </a:rPr>
              <a:t>if</a:t>
            </a:r>
            <a:r>
              <a:rPr lang="nl-BE" dirty="0">
                <a:solidFill>
                  <a:srgbClr val="008000"/>
                </a:solidFill>
                <a:latin typeface="Consolas" panose="020B0609020204030204" pitchFamily="49" charset="0"/>
              </a:rPr>
              <a:t> email is an example mail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3"/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$email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lvl="1"/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nl-BE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"&lt;p&gt;First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brings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your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here&lt;/p&gt;"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nl-BE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MyException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$email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dirty="0" err="1">
                <a:solidFill>
                  <a:srgbClr val="267F99"/>
                </a:solidFill>
                <a:latin typeface="Consolas" panose="020B0609020204030204" pitchFamily="49" charset="0"/>
              </a:rPr>
              <a:t>MyException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nl-BE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"&lt;p&gt;Second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exception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throw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nl-BE" dirty="0" err="1">
                <a:solidFill>
                  <a:srgbClr val="A31515"/>
                </a:solidFill>
                <a:latin typeface="Consolas" panose="020B0609020204030204" pitchFamily="49" charset="0"/>
              </a:rPr>
              <a:t>results</a:t>
            </a:r>
            <a:r>
              <a:rPr lang="nl-BE" dirty="0">
                <a:solidFill>
                  <a:srgbClr val="A31515"/>
                </a:solidFill>
                <a:latin typeface="Consolas" panose="020B0609020204030204" pitchFamily="49" charset="0"/>
              </a:rPr>
              <a:t> in:&lt;/p&gt;"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nl-BE" dirty="0">
                <a:solidFill>
                  <a:srgbClr val="001080"/>
                </a:solidFill>
                <a:latin typeface="Consolas" panose="020B0609020204030204" pitchFamily="49" charset="0"/>
              </a:rPr>
              <a:t>$e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nl-BE" dirty="0" err="1">
                <a:solidFill>
                  <a:srgbClr val="795E26"/>
                </a:solidFill>
                <a:latin typeface="Consolas" panose="020B0609020204030204" pitchFamily="49" charset="0"/>
              </a:rPr>
              <a:t>HandleException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kstvak 6"/>
          <p:cNvSpPr txBox="1"/>
          <p:nvPr/>
        </p:nvSpPr>
        <p:spPr>
          <a:xfrm>
            <a:off x="6935724" y="5231625"/>
            <a:ext cx="1848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>
                <a:hlinkClick r:id="rId2" action="ppaction://hlinkfile"/>
              </a:rPr>
              <a:t>source code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3235107189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homas More">
  <a:themeElements>
    <a:clrScheme name="Lessius">
      <a:dk1>
        <a:srgbClr val="003C72"/>
      </a:dk1>
      <a:lt1>
        <a:srgbClr val="FFFFFF"/>
      </a:lt1>
      <a:dk2>
        <a:srgbClr val="003C72"/>
      </a:dk2>
      <a:lt2>
        <a:srgbClr val="FFFFFF"/>
      </a:lt2>
      <a:accent1>
        <a:srgbClr val="00A9E5"/>
      </a:accent1>
      <a:accent2>
        <a:srgbClr val="67CBEF"/>
      </a:accent2>
      <a:accent3>
        <a:srgbClr val="CCEEFA"/>
      </a:accent3>
      <a:accent4>
        <a:srgbClr val="406D96"/>
      </a:accent4>
      <a:accent5>
        <a:srgbClr val="7F9DB9"/>
      </a:accent5>
      <a:accent6>
        <a:srgbClr val="BECEDD"/>
      </a:accent6>
      <a:hlink>
        <a:srgbClr val="118EFF"/>
      </a:hlink>
      <a:folHlink>
        <a:srgbClr val="7030A0"/>
      </a:folHlink>
    </a:clrScheme>
    <a:fontScheme name="Less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00A0A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Thomas More" id="{1332566A-3F18-49D1-80A8-16117EBF29A3}" vid="{6C0FC004-971C-448B-B489-975134365DC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Thomas More</Template>
  <TotalTime>34610</TotalTime>
  <Words>1480</Words>
  <Application>Microsoft Office PowerPoint</Application>
  <PresentationFormat>Diavoorstelling (4:3)</PresentationFormat>
  <Paragraphs>285</Paragraphs>
  <Slides>22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Trebuchet MS</vt:lpstr>
      <vt:lpstr>Verdana</vt:lpstr>
      <vt:lpstr>PowerPoint Thomas More</vt:lpstr>
      <vt:lpstr>Error handling</vt:lpstr>
      <vt:lpstr>Why?</vt:lpstr>
      <vt:lpstr>Basic error handling</vt:lpstr>
      <vt:lpstr>Error handler function</vt:lpstr>
      <vt:lpstr>Error handler function</vt:lpstr>
      <vt:lpstr>error handler function</vt:lpstr>
      <vt:lpstr>Actively Trigger Error</vt:lpstr>
      <vt:lpstr>Error numbers</vt:lpstr>
      <vt:lpstr>Selective error handling</vt:lpstr>
      <vt:lpstr>Error logging</vt:lpstr>
      <vt:lpstr>Error logging</vt:lpstr>
      <vt:lpstr>logging class</vt:lpstr>
      <vt:lpstr>Pro’s and con’s</vt:lpstr>
      <vt:lpstr>exceptions</vt:lpstr>
      <vt:lpstr>Exceptions flow</vt:lpstr>
      <vt:lpstr>Standard exception</vt:lpstr>
      <vt:lpstr>Standard exception</vt:lpstr>
      <vt:lpstr>Custom exception class</vt:lpstr>
      <vt:lpstr>Top level exception handler</vt:lpstr>
      <vt:lpstr>TOP level exception handler</vt:lpstr>
      <vt:lpstr>different exceptions combined</vt:lpstr>
      <vt:lpstr>Re-throwing exceptions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Sofie Beerens</dc:creator>
  <cp:lastModifiedBy>Sofie Beerens</cp:lastModifiedBy>
  <cp:revision>582</cp:revision>
  <dcterms:created xsi:type="dcterms:W3CDTF">2015-01-22T07:26:17Z</dcterms:created>
  <dcterms:modified xsi:type="dcterms:W3CDTF">2022-12-06T10:48:23Z</dcterms:modified>
</cp:coreProperties>
</file>